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70" r:id="rId7"/>
    <p:sldId id="271" r:id="rId8"/>
    <p:sldId id="263" r:id="rId9"/>
    <p:sldId id="264" r:id="rId10"/>
    <p:sldId id="265" r:id="rId11"/>
    <p:sldId id="266" r:id="rId12"/>
    <p:sldId id="267" r:id="rId13"/>
    <p:sldId id="269" r:id="rId14"/>
    <p:sldId id="272" r:id="rId15"/>
    <p:sldId id="273" r:id="rId16"/>
    <p:sldId id="275" r:id="rId17"/>
    <p:sldId id="276"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53" autoAdjust="0"/>
    <p:restoredTop sz="94660"/>
  </p:normalViewPr>
  <p:slideViewPr>
    <p:cSldViewPr snapToGrid="0">
      <p:cViewPr varScale="1">
        <p:scale>
          <a:sx n="93" d="100"/>
          <a:sy n="93" d="100"/>
        </p:scale>
        <p:origin x="100" y="3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82762"/>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000" b="1">
                <a:solidFill>
                  <a:schemeClr val="accent2">
                    <a:lumMod val="7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1B805F-FF0F-4BAA-A3A3-E4F945D687F8}" type="datetimeFigureOut">
              <a:rPr lang="en-US" dirty="0"/>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61F3A6-CC5D-4649-8527-DB0C21FDDFD9}" type="datetimeFigureOut">
              <a:rPr lang="en-US" dirty="0"/>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b="1">
                <a:solidFill>
                  <a:schemeClr val="accent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lvl1pPr>
              <a:defRPr>
                <a:solidFill>
                  <a:schemeClr val="accent2">
                    <a:lumMod val="50000"/>
                  </a:schemeClr>
                </a:solidFill>
              </a:defRPr>
            </a:lvl1pPr>
          </a:lstStyle>
          <a:p>
            <a:fld id="{5B6F927C-B73E-4F9D-ADFE-F6E23BD7CEE8}" type="datetimeFigureOut">
              <a:rPr lang="en-US" dirty="0"/>
              <a:t>5/6/2019</a:t>
            </a:fld>
            <a:endParaRPr lang="en-US" dirty="0"/>
          </a:p>
        </p:txBody>
      </p:sp>
      <p:sp>
        <p:nvSpPr>
          <p:cNvPr id="5" name="Footer Placeholder 4"/>
          <p:cNvSpPr>
            <a:spLocks noGrp="1"/>
          </p:cNvSpPr>
          <p:nvPr>
            <p:ph type="ftr" sz="quarter" idx="11"/>
          </p:nvPr>
        </p:nvSpPr>
        <p:spPr>
          <a:xfrm>
            <a:off x="2182708" y="6272784"/>
            <a:ext cx="6327648" cy="365125"/>
          </a:xfrm>
        </p:spPr>
        <p:txBody>
          <a:bodyPr/>
          <a:lstStyle>
            <a:lvl1pPr>
              <a:defRPr>
                <a:solidFill>
                  <a:schemeClr val="accent2">
                    <a:lumMod val="50000"/>
                  </a:schemeClr>
                </a:solidFill>
              </a:defRPr>
            </a:lvl1p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B1FFFF-984A-4EE5-9BF2-EC9310C878F1}" type="datetimeFigureOut">
              <a:rPr lang="en-US" dirty="0"/>
              <a:t>5/6/2019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3271C1-B42E-4A60-A25F-0185B888604B}" type="datetimeFigureOut">
              <a:rPr lang="en-US" dirty="0"/>
              <a:t>5/6/2019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416292-3725-4763-8973-4C59F0403D99}" type="datetimeFigureOut">
              <a:rPr lang="en-US" dirty="0"/>
              <a:t>5/6/2019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6996D1-8909-469F-911A-4C12C68BF5D9}" type="datetimeFigureOut">
              <a:rPr lang="en-US" dirty="0"/>
              <a:t>5/6/2019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6A73BC-5D11-4675-B334-102E1E8C9B50}" type="datetimeFigureOut">
              <a:rPr lang="en-US" dirty="0"/>
              <a:t>5/6/2019</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2">
                    <a:lumMod val="75000"/>
                  </a:schemeClr>
                </a:solidFill>
              </a:defRPr>
            </a:lvl1pPr>
          </a:lstStyle>
          <a:p>
            <a:fld id="{27B8E45F-652B-4E89-8925-000B0AB8FD98}" type="datetimeFigureOut">
              <a:rPr lang="en-US" dirty="0"/>
              <a:t>5/6/2019</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0B5C51-60B3-48EF-AA78-DB950F30DBA2}" type="datetimeFigureOut">
              <a:rPr lang="en-US" dirty="0"/>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5D676B-6E73-4E3B-A9B3-4966DB9B52A5}" type="datetimeFigureOut">
              <a:rPr lang="en-US" dirty="0"/>
              <a:t>5/6/2019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accent2">
                    <a:lumMod val="50000"/>
                  </a:schemeClr>
                </a:solidFill>
              </a:defRPr>
            </a:lvl1pPr>
          </a:lstStyle>
          <a:p>
            <a:fld id="{C4A3462A-2D5B-48AF-A3D4-EF8A90A50A80}" type="datetimeFigureOut">
              <a:rPr lang="en-US" dirty="0"/>
              <a:t>5/6/2019</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accent2">
                    <a:lumMod val="50000"/>
                  </a:schemeClr>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2">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Online Car Rental System</a:t>
            </a:r>
          </a:p>
        </p:txBody>
      </p:sp>
      <p:sp>
        <p:nvSpPr>
          <p:cNvPr id="3" name="Subtitle 2"/>
          <p:cNvSpPr>
            <a:spLocks noGrp="1"/>
          </p:cNvSpPr>
          <p:nvPr>
            <p:ph type="subTitle" idx="1"/>
          </p:nvPr>
        </p:nvSpPr>
        <p:spPr>
          <a:xfrm>
            <a:off x="1051560" y="4678487"/>
            <a:ext cx="7891272" cy="1069848"/>
          </a:xfrm>
        </p:spPr>
        <p:txBody>
          <a:bodyPr>
            <a:normAutofit fontScale="55000" lnSpcReduction="20000"/>
          </a:bodyPr>
          <a:lstStyle/>
          <a:p>
            <a:pPr lvl="0"/>
            <a:r>
              <a:rPr lang="en-US" i="1" dirty="0"/>
              <a:t>Ragchaabazar Bud – 987063</a:t>
            </a:r>
            <a:endParaRPr lang="en-US" dirty="0"/>
          </a:p>
          <a:p>
            <a:pPr lvl="0"/>
            <a:r>
              <a:rPr lang="en-US" i="1" dirty="0"/>
              <a:t>Khaliun Samdanjamts – 962084</a:t>
            </a:r>
            <a:endParaRPr lang="en-US" dirty="0"/>
          </a:p>
          <a:p>
            <a:pPr lvl="0"/>
            <a:r>
              <a:rPr lang="en-US" i="1" dirty="0"/>
              <a:t>Williert Charles – 986763</a:t>
            </a:r>
            <a:endParaRPr lang="en-US" dirty="0"/>
          </a:p>
          <a:p>
            <a:pPr lvl="0"/>
            <a:r>
              <a:rPr lang="en-US" i="1" dirty="0"/>
              <a:t>Wilfrid Jules - 986709</a:t>
            </a:r>
            <a:endParaRPr lang="en-US" dirty="0"/>
          </a:p>
          <a:p>
            <a:endParaRPr lang="en-US" dirty="0"/>
          </a:p>
        </p:txBody>
      </p:sp>
    </p:spTree>
    <p:extLst>
      <p:ext uri="{BB962C8B-B14F-4D97-AF65-F5344CB8AC3E}">
        <p14:creationId xmlns:p14="http://schemas.microsoft.com/office/powerpoint/2010/main" val="1941195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1609344"/>
          </a:xfrm>
        </p:spPr>
        <p:txBody>
          <a:bodyPr/>
          <a:lstStyle/>
          <a:p>
            <a:pPr algn="ctr"/>
            <a:r>
              <a:rPr lang="en-US" dirty="0"/>
              <a:t>Online Car Rental System’s </a:t>
            </a:r>
            <a:br>
              <a:rPr lang="en-US" dirty="0"/>
            </a:br>
            <a:r>
              <a:rPr lang="en-US" dirty="0"/>
              <a:t>Topic</a:t>
            </a:r>
          </a:p>
        </p:txBody>
      </p:sp>
      <p:sp>
        <p:nvSpPr>
          <p:cNvPr id="3" name="Content Placeholder 2"/>
          <p:cNvSpPr>
            <a:spLocks noGrp="1"/>
          </p:cNvSpPr>
          <p:nvPr>
            <p:ph idx="1"/>
          </p:nvPr>
        </p:nvSpPr>
        <p:spPr>
          <a:xfrm>
            <a:off x="1069848" y="2488556"/>
            <a:ext cx="10058400" cy="3683643"/>
          </a:xfrm>
        </p:spPr>
        <p:txBody>
          <a:bodyPr/>
          <a:lstStyle/>
          <a:p>
            <a:pPr marL="457200" indent="-457200">
              <a:buAutoNum type="arabicPeriod"/>
            </a:pPr>
            <a:r>
              <a:rPr lang="en-US" sz="2800" dirty="0"/>
              <a:t>Vision Document</a:t>
            </a:r>
          </a:p>
          <a:p>
            <a:pPr marL="457200" indent="-457200">
              <a:buAutoNum type="arabicPeriod"/>
            </a:pPr>
            <a:r>
              <a:rPr lang="en-US" sz="2800" dirty="0"/>
              <a:t>Use Case Diagram</a:t>
            </a:r>
          </a:p>
          <a:p>
            <a:pPr marL="457200" indent="-457200">
              <a:buFont typeface="Wingdings" pitchFamily="2" charset="2"/>
              <a:buAutoNum type="arabicPeriod"/>
            </a:pPr>
            <a:r>
              <a:rPr lang="en-US" sz="2800" dirty="0"/>
              <a:t>Use Case Description</a:t>
            </a:r>
          </a:p>
          <a:p>
            <a:pPr marL="457200" indent="-457200">
              <a:buFont typeface="Wingdings" pitchFamily="2" charset="2"/>
              <a:buAutoNum type="arabicPeriod"/>
            </a:pPr>
            <a:r>
              <a:rPr lang="en-US" sz="2800" dirty="0"/>
              <a:t>Architectural Analysis</a:t>
            </a:r>
          </a:p>
          <a:p>
            <a:pPr marL="457200" indent="-457200">
              <a:buFont typeface="Wingdings" pitchFamily="2" charset="2"/>
              <a:buAutoNum type="arabicPeriod"/>
            </a:pPr>
            <a:r>
              <a:rPr lang="en-US" sz="2800" dirty="0"/>
              <a:t>Sequence Diagrams</a:t>
            </a:r>
          </a:p>
          <a:p>
            <a:pPr marL="457200" indent="-457200">
              <a:buAutoNum type="arabicPeriod"/>
            </a:pPr>
            <a:endParaRPr lang="en-US" dirty="0"/>
          </a:p>
        </p:txBody>
      </p:sp>
    </p:spTree>
    <p:extLst>
      <p:ext uri="{BB962C8B-B14F-4D97-AF65-F5344CB8AC3E}">
        <p14:creationId xmlns:p14="http://schemas.microsoft.com/office/powerpoint/2010/main" val="2616638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pPr marL="0" indent="0">
              <a:buNone/>
            </a:pPr>
            <a:r>
              <a:rPr lang="en-US" sz="2400" dirty="0"/>
              <a:t>Five years ago, the company has launched car rental service which had 2 locations and 50 cars in total. The company has been developing, the income and capacity of service as well as locations and cars have been increasing. Now the company has 15 branches in Illinois and Iowa states and 300 cars in total. We offer 6 general types of rental cars which are Small cars, Normal cars, Vans, Premium cars, SUVs and Large cars. However, the company has many cars, they manage their service manually it tends to costly management. That’s why the company needs online car rental system that manage the operation of the company that is user friendly and cheaper then previous management.</a:t>
            </a:r>
          </a:p>
        </p:txBody>
      </p:sp>
    </p:spTree>
    <p:extLst>
      <p:ext uri="{BB962C8B-B14F-4D97-AF65-F5344CB8AC3E}">
        <p14:creationId xmlns:p14="http://schemas.microsoft.com/office/powerpoint/2010/main" val="1999864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I. Vision Document</a:t>
            </a:r>
            <a:br>
              <a:rPr lang="en-US" dirty="0"/>
            </a:br>
            <a:r>
              <a:rPr lang="en-US" sz="3200" dirty="0"/>
              <a:t>1.1. Problem Statement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27799454"/>
              </p:ext>
            </p:extLst>
          </p:nvPr>
        </p:nvGraphicFramePr>
        <p:xfrm>
          <a:off x="1169043" y="2093975"/>
          <a:ext cx="9780608" cy="3653829"/>
        </p:xfrm>
        <a:graphic>
          <a:graphicData uri="http://schemas.openxmlformats.org/drawingml/2006/table">
            <a:tbl>
              <a:tblPr firstRow="1" firstCol="1" bandRow="1">
                <a:tableStyleId>{8799B23B-EC83-4686-B30A-512413B5E67A}</a:tableStyleId>
              </a:tblPr>
              <a:tblGrid>
                <a:gridCol w="2724972">
                  <a:extLst>
                    <a:ext uri="{9D8B030D-6E8A-4147-A177-3AD203B41FA5}">
                      <a16:colId xmlns:a16="http://schemas.microsoft.com/office/drawing/2014/main" val="20000"/>
                    </a:ext>
                  </a:extLst>
                </a:gridCol>
                <a:gridCol w="7055636">
                  <a:extLst>
                    <a:ext uri="{9D8B030D-6E8A-4147-A177-3AD203B41FA5}">
                      <a16:colId xmlns:a16="http://schemas.microsoft.com/office/drawing/2014/main" val="20001"/>
                    </a:ext>
                  </a:extLst>
                </a:gridCol>
              </a:tblGrid>
              <a:tr h="733569">
                <a:tc>
                  <a:txBody>
                    <a:bodyPr/>
                    <a:lstStyle/>
                    <a:p>
                      <a:pPr marL="0" marR="0">
                        <a:lnSpc>
                          <a:spcPct val="115000"/>
                        </a:lnSpc>
                        <a:spcBef>
                          <a:spcPts val="0"/>
                        </a:spcBef>
                        <a:spcAft>
                          <a:spcPts val="0"/>
                        </a:spcAft>
                      </a:pPr>
                      <a:r>
                        <a:rPr lang="en-US" sz="1800" dirty="0">
                          <a:effectLst/>
                        </a:rPr>
                        <a:t>The problem of</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having traditional way car rental service which is not connected all information each another</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55396">
                <a:tc>
                  <a:txBody>
                    <a:bodyPr/>
                    <a:lstStyle/>
                    <a:p>
                      <a:pPr marL="0" marR="0">
                        <a:lnSpc>
                          <a:spcPct val="115000"/>
                        </a:lnSpc>
                        <a:spcBef>
                          <a:spcPts val="0"/>
                        </a:spcBef>
                        <a:spcAft>
                          <a:spcPts val="0"/>
                        </a:spcAft>
                      </a:pPr>
                      <a:r>
                        <a:rPr lang="en-US" sz="1800">
                          <a:effectLst/>
                        </a:rPr>
                        <a:t>Affects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The company’s development and competition</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94579">
                <a:tc>
                  <a:txBody>
                    <a:bodyPr/>
                    <a:lstStyle/>
                    <a:p>
                      <a:pPr marL="0" marR="0">
                        <a:lnSpc>
                          <a:spcPct val="115000"/>
                        </a:lnSpc>
                        <a:spcBef>
                          <a:spcPts val="0"/>
                        </a:spcBef>
                        <a:spcAft>
                          <a:spcPts val="0"/>
                        </a:spcAft>
                      </a:pPr>
                      <a:r>
                        <a:rPr lang="en-US" sz="1800">
                          <a:effectLst/>
                        </a:rPr>
                        <a:t>the impact of which is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managing the rental car company manually is costly and it tends to the company miss the market status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870285">
                <a:tc>
                  <a:txBody>
                    <a:bodyPr/>
                    <a:lstStyle/>
                    <a:p>
                      <a:pPr marL="0" marR="0">
                        <a:lnSpc>
                          <a:spcPct val="115000"/>
                        </a:lnSpc>
                        <a:spcBef>
                          <a:spcPts val="0"/>
                        </a:spcBef>
                        <a:spcAft>
                          <a:spcPts val="0"/>
                        </a:spcAft>
                      </a:pPr>
                      <a:r>
                        <a:rPr lang="en-US" sz="1800">
                          <a:effectLst/>
                        </a:rPr>
                        <a:t>a successful solution would be</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dirty="0">
                          <a:effectLst/>
                        </a:rPr>
                        <a:t>To create a car rental service system that integrates the business rules for consumer needs and supply rental car based on customer needs.</a:t>
                      </a:r>
                      <a:endParaRPr lang="en-US" sz="2400" dirty="0">
                        <a:effectLst/>
                      </a:endParaRPr>
                    </a:p>
                    <a:p>
                      <a:pPr marL="0" marR="0">
                        <a:lnSpc>
                          <a:spcPct val="115000"/>
                        </a:lnSpc>
                        <a:spcBef>
                          <a:spcPts val="0"/>
                        </a:spcBef>
                        <a:spcAft>
                          <a:spcPts val="0"/>
                        </a:spcAft>
                      </a:pPr>
                      <a:r>
                        <a:rPr lang="en-US" sz="1800" dirty="0">
                          <a:effectLst/>
                        </a:rPr>
                        <a:t>This system will provide a database and a user interface that is easy to use for customer and staff.</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80653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253140"/>
            <a:ext cx="10058400" cy="661262"/>
          </a:xfrm>
        </p:spPr>
        <p:txBody>
          <a:bodyPr>
            <a:normAutofit/>
          </a:bodyPr>
          <a:lstStyle/>
          <a:p>
            <a:r>
              <a:rPr lang="en-US" sz="3200" dirty="0"/>
              <a:t>1.2 Product Position Statement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736784880"/>
              </p:ext>
            </p:extLst>
          </p:nvPr>
        </p:nvGraphicFramePr>
        <p:xfrm>
          <a:off x="1069847" y="914402"/>
          <a:ext cx="10527985" cy="2500130"/>
        </p:xfrm>
        <a:graphic>
          <a:graphicData uri="http://schemas.openxmlformats.org/drawingml/2006/table">
            <a:tbl>
              <a:tblPr firstRow="1" firstCol="1" bandRow="1">
                <a:tableStyleId>{8799B23B-EC83-4686-B30A-512413B5E67A}</a:tableStyleId>
              </a:tblPr>
              <a:tblGrid>
                <a:gridCol w="2627565">
                  <a:extLst>
                    <a:ext uri="{9D8B030D-6E8A-4147-A177-3AD203B41FA5}">
                      <a16:colId xmlns:a16="http://schemas.microsoft.com/office/drawing/2014/main" val="20000"/>
                    </a:ext>
                  </a:extLst>
                </a:gridCol>
                <a:gridCol w="7900420">
                  <a:extLst>
                    <a:ext uri="{9D8B030D-6E8A-4147-A177-3AD203B41FA5}">
                      <a16:colId xmlns:a16="http://schemas.microsoft.com/office/drawing/2014/main" val="20001"/>
                    </a:ext>
                  </a:extLst>
                </a:gridCol>
              </a:tblGrid>
              <a:tr h="232528">
                <a:tc>
                  <a:txBody>
                    <a:bodyPr/>
                    <a:lstStyle/>
                    <a:p>
                      <a:pPr marL="0" marR="0">
                        <a:lnSpc>
                          <a:spcPct val="115000"/>
                        </a:lnSpc>
                        <a:spcBef>
                          <a:spcPts val="0"/>
                        </a:spcBef>
                        <a:spcAft>
                          <a:spcPts val="0"/>
                        </a:spcAft>
                      </a:pPr>
                      <a:r>
                        <a:rPr lang="en-US" sz="1600" dirty="0">
                          <a:effectLst/>
                        </a:rPr>
                        <a:t>For</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Car rental company</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pPr>
                      <a:r>
                        <a:rPr lang="en-US" sz="1600" dirty="0">
                          <a:effectLst/>
                        </a:rPr>
                        <a:t>That</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Needs to manage renting cars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32528">
                <a:tc>
                  <a:txBody>
                    <a:bodyPr/>
                    <a:lstStyle/>
                    <a:p>
                      <a:pPr marL="0" marR="0">
                        <a:lnSpc>
                          <a:spcPct val="115000"/>
                        </a:lnSpc>
                        <a:spcBef>
                          <a:spcPts val="0"/>
                        </a:spcBef>
                        <a:spcAft>
                          <a:spcPts val="0"/>
                        </a:spcAft>
                      </a:pPr>
                      <a:r>
                        <a:rPr lang="en-US" sz="1600" dirty="0">
                          <a:effectLst/>
                        </a:rPr>
                        <a:t>The (product name)</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a:effectLst/>
                        </a:rPr>
                        <a:t>Online car rental system</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32528">
                <a:tc>
                  <a:txBody>
                    <a:bodyPr/>
                    <a:lstStyle/>
                    <a:p>
                      <a:pPr marL="0" marR="0">
                        <a:lnSpc>
                          <a:spcPct val="115000"/>
                        </a:lnSpc>
                        <a:spcBef>
                          <a:spcPts val="0"/>
                        </a:spcBef>
                        <a:spcAft>
                          <a:spcPts val="0"/>
                        </a:spcAft>
                      </a:pPr>
                      <a:r>
                        <a:rPr lang="en-US" sz="1600">
                          <a:effectLst/>
                        </a:rPr>
                        <a:t>That</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Offers rental vehicles for customers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32528">
                <a:tc>
                  <a:txBody>
                    <a:bodyPr/>
                    <a:lstStyle/>
                    <a:p>
                      <a:pPr marL="0" marR="0">
                        <a:lnSpc>
                          <a:spcPct val="115000"/>
                        </a:lnSpc>
                        <a:spcBef>
                          <a:spcPts val="0"/>
                        </a:spcBef>
                        <a:spcAft>
                          <a:spcPts val="0"/>
                        </a:spcAft>
                      </a:pPr>
                      <a:r>
                        <a:rPr lang="en-US" sz="1600">
                          <a:effectLst/>
                        </a:rPr>
                        <a:t>Unlike</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Traditional which is not connected information</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1184854">
                <a:tc>
                  <a:txBody>
                    <a:bodyPr/>
                    <a:lstStyle/>
                    <a:p>
                      <a:pPr marL="0" marR="0">
                        <a:lnSpc>
                          <a:spcPct val="115000"/>
                        </a:lnSpc>
                        <a:spcBef>
                          <a:spcPts val="0"/>
                        </a:spcBef>
                        <a:spcAft>
                          <a:spcPts val="0"/>
                        </a:spcAft>
                      </a:pPr>
                      <a:r>
                        <a:rPr lang="en-US" sz="1600" dirty="0">
                          <a:effectLst/>
                        </a:rPr>
                        <a:t>Our product</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keeps tracks of vehicles, staff, customers and booking. It provides useful information to the staff such as giving daily reports of vehicles to be delivered/picked up and acts as a vehicle management system by monitoring the use and price of the vehicles.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596609041"/>
              </p:ext>
            </p:extLst>
          </p:nvPr>
        </p:nvGraphicFramePr>
        <p:xfrm>
          <a:off x="1109550" y="4075793"/>
          <a:ext cx="10488282" cy="2488865"/>
        </p:xfrm>
        <a:graphic>
          <a:graphicData uri="http://schemas.openxmlformats.org/drawingml/2006/table">
            <a:tbl>
              <a:tblPr firstRow="1" firstCol="1" bandRow="1">
                <a:tableStyleId>{8799B23B-EC83-4686-B30A-512413B5E67A}</a:tableStyleId>
              </a:tblPr>
              <a:tblGrid>
                <a:gridCol w="1159088">
                  <a:extLst>
                    <a:ext uri="{9D8B030D-6E8A-4147-A177-3AD203B41FA5}">
                      <a16:colId xmlns:a16="http://schemas.microsoft.com/office/drawing/2014/main" val="20000"/>
                    </a:ext>
                  </a:extLst>
                </a:gridCol>
                <a:gridCol w="3510886">
                  <a:extLst>
                    <a:ext uri="{9D8B030D-6E8A-4147-A177-3AD203B41FA5}">
                      <a16:colId xmlns:a16="http://schemas.microsoft.com/office/drawing/2014/main" val="20001"/>
                    </a:ext>
                  </a:extLst>
                </a:gridCol>
                <a:gridCol w="5818308">
                  <a:extLst>
                    <a:ext uri="{9D8B030D-6E8A-4147-A177-3AD203B41FA5}">
                      <a16:colId xmlns:a16="http://schemas.microsoft.com/office/drawing/2014/main" val="20002"/>
                    </a:ext>
                  </a:extLst>
                </a:gridCol>
              </a:tblGrid>
              <a:tr h="303320">
                <a:tc>
                  <a:txBody>
                    <a:bodyPr/>
                    <a:lstStyle/>
                    <a:p>
                      <a:pPr marL="0" marR="0" algn="ctr">
                        <a:lnSpc>
                          <a:spcPct val="115000"/>
                        </a:lnSpc>
                        <a:spcBef>
                          <a:spcPts val="0"/>
                        </a:spcBef>
                        <a:spcAft>
                          <a:spcPts val="0"/>
                        </a:spcAft>
                      </a:pPr>
                      <a:r>
                        <a:rPr lang="en-US" sz="1600" dirty="0">
                          <a:effectLst/>
                        </a:rPr>
                        <a:t>Name</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600">
                          <a:effectLst/>
                        </a:rPr>
                        <a:t>Description</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600" dirty="0">
                          <a:effectLst/>
                        </a:rPr>
                        <a:t>Responsibilities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542097">
                <a:tc>
                  <a:txBody>
                    <a:bodyPr/>
                    <a:lstStyle/>
                    <a:p>
                      <a:pPr marL="0" marR="0">
                        <a:lnSpc>
                          <a:spcPct val="115000"/>
                        </a:lnSpc>
                        <a:spcBef>
                          <a:spcPts val="0"/>
                        </a:spcBef>
                        <a:spcAft>
                          <a:spcPts val="0"/>
                        </a:spcAft>
                      </a:pPr>
                      <a:r>
                        <a:rPr lang="en-US" sz="1600">
                          <a:effectLst/>
                        </a:rPr>
                        <a:t>Admin</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Admin add, edit and delete things on the system</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Admin is responsible for setting up, insert vehicle metadata and managing system</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821724">
                <a:tc>
                  <a:txBody>
                    <a:bodyPr/>
                    <a:lstStyle/>
                    <a:p>
                      <a:pPr marL="0" marR="0">
                        <a:lnSpc>
                          <a:spcPct val="115000"/>
                        </a:lnSpc>
                        <a:spcBef>
                          <a:spcPts val="0"/>
                        </a:spcBef>
                        <a:spcAft>
                          <a:spcPts val="0"/>
                        </a:spcAft>
                      </a:pPr>
                      <a:r>
                        <a:rPr lang="en-US" sz="1600" dirty="0">
                          <a:effectLst/>
                        </a:rPr>
                        <a:t>Staffs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Staffs show and manage the vehicles that they rent from their branch</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Staffs are responsible for showing the vehicle information and manage the rental process on the system.</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821724">
                <a:tc>
                  <a:txBody>
                    <a:bodyPr/>
                    <a:lstStyle/>
                    <a:p>
                      <a:pPr marL="0" marR="0">
                        <a:lnSpc>
                          <a:spcPct val="115000"/>
                        </a:lnSpc>
                        <a:spcBef>
                          <a:spcPts val="0"/>
                        </a:spcBef>
                        <a:spcAft>
                          <a:spcPts val="0"/>
                        </a:spcAft>
                      </a:pPr>
                      <a:r>
                        <a:rPr lang="en-US" sz="1600">
                          <a:effectLst/>
                        </a:rPr>
                        <a:t>Customers</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a:effectLst/>
                        </a:rPr>
                        <a:t>Customers can see vehicle detail information including price and rent the car whatever available.</a:t>
                      </a:r>
                      <a:endParaRPr lang="en-US" sz="15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Customers are responsible for signing up on the system and paying for the rental cars as well as pick-up and deliver the vehicle that they rented from the company.</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
        <p:nvSpPr>
          <p:cNvPr id="8" name="Title 1"/>
          <p:cNvSpPr txBox="1">
            <a:spLocks/>
          </p:cNvSpPr>
          <p:nvPr/>
        </p:nvSpPr>
        <p:spPr>
          <a:xfrm>
            <a:off x="1069847" y="3489015"/>
            <a:ext cx="10058400" cy="5867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sz="3200" dirty="0"/>
              <a:t>2. Stakeholder Description</a:t>
            </a:r>
          </a:p>
        </p:txBody>
      </p:sp>
    </p:spTree>
    <p:extLst>
      <p:ext uri="{BB962C8B-B14F-4D97-AF65-F5344CB8AC3E}">
        <p14:creationId xmlns:p14="http://schemas.microsoft.com/office/powerpoint/2010/main" val="876534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109A9-8D84-486A-AD51-B63C3C6BDB5C}"/>
              </a:ext>
            </a:extLst>
          </p:cNvPr>
          <p:cNvSpPr>
            <a:spLocks noGrp="1"/>
          </p:cNvSpPr>
          <p:nvPr>
            <p:ph type="title"/>
          </p:nvPr>
        </p:nvSpPr>
        <p:spPr>
          <a:xfrm>
            <a:off x="1069848" y="484633"/>
            <a:ext cx="10058400" cy="443518"/>
          </a:xfrm>
        </p:spPr>
        <p:txBody>
          <a:bodyPr>
            <a:noAutofit/>
          </a:bodyPr>
          <a:lstStyle/>
          <a:p>
            <a:r>
              <a:rPr lang="en-US" sz="3200" dirty="0"/>
              <a:t>1.4. Needs and Features</a:t>
            </a:r>
          </a:p>
        </p:txBody>
      </p:sp>
      <p:graphicFrame>
        <p:nvGraphicFramePr>
          <p:cNvPr id="4" name="Content Placeholder 3">
            <a:extLst>
              <a:ext uri="{FF2B5EF4-FFF2-40B4-BE49-F238E27FC236}">
                <a16:creationId xmlns:a16="http://schemas.microsoft.com/office/drawing/2014/main" id="{0111AAB1-A7D6-48C6-B93D-2BF15034E452}"/>
              </a:ext>
            </a:extLst>
          </p:cNvPr>
          <p:cNvGraphicFramePr>
            <a:graphicFrameLocks noGrp="1"/>
          </p:cNvGraphicFramePr>
          <p:nvPr>
            <p:ph idx="1"/>
          </p:nvPr>
        </p:nvGraphicFramePr>
        <p:xfrm>
          <a:off x="948775" y="996950"/>
          <a:ext cx="10324260" cy="5716087"/>
        </p:xfrm>
        <a:graphic>
          <a:graphicData uri="http://schemas.openxmlformats.org/drawingml/2006/table">
            <a:tbl>
              <a:tblPr firstRow="1" bandRow="1">
                <a:tableStyleId>{8799B23B-EC83-4686-B30A-512413B5E67A}</a:tableStyleId>
              </a:tblPr>
              <a:tblGrid>
                <a:gridCol w="369962">
                  <a:extLst>
                    <a:ext uri="{9D8B030D-6E8A-4147-A177-3AD203B41FA5}">
                      <a16:colId xmlns:a16="http://schemas.microsoft.com/office/drawing/2014/main" val="3571866511"/>
                    </a:ext>
                  </a:extLst>
                </a:gridCol>
                <a:gridCol w="2799501">
                  <a:extLst>
                    <a:ext uri="{9D8B030D-6E8A-4147-A177-3AD203B41FA5}">
                      <a16:colId xmlns:a16="http://schemas.microsoft.com/office/drawing/2014/main" val="1421687479"/>
                    </a:ext>
                  </a:extLst>
                </a:gridCol>
                <a:gridCol w="2564445">
                  <a:extLst>
                    <a:ext uri="{9D8B030D-6E8A-4147-A177-3AD203B41FA5}">
                      <a16:colId xmlns:a16="http://schemas.microsoft.com/office/drawing/2014/main" val="3899242390"/>
                    </a:ext>
                  </a:extLst>
                </a:gridCol>
                <a:gridCol w="185630">
                  <a:extLst>
                    <a:ext uri="{9D8B030D-6E8A-4147-A177-3AD203B41FA5}">
                      <a16:colId xmlns:a16="http://schemas.microsoft.com/office/drawing/2014/main" val="2048303212"/>
                    </a:ext>
                  </a:extLst>
                </a:gridCol>
                <a:gridCol w="295633">
                  <a:extLst>
                    <a:ext uri="{9D8B030D-6E8A-4147-A177-3AD203B41FA5}">
                      <a16:colId xmlns:a16="http://schemas.microsoft.com/office/drawing/2014/main" val="746535854"/>
                    </a:ext>
                  </a:extLst>
                </a:gridCol>
                <a:gridCol w="93980">
                  <a:extLst>
                    <a:ext uri="{9D8B030D-6E8A-4147-A177-3AD203B41FA5}">
                      <a16:colId xmlns:a16="http://schemas.microsoft.com/office/drawing/2014/main" val="1517551828"/>
                    </a:ext>
                  </a:extLst>
                </a:gridCol>
                <a:gridCol w="284155">
                  <a:extLst>
                    <a:ext uri="{9D8B030D-6E8A-4147-A177-3AD203B41FA5}">
                      <a16:colId xmlns:a16="http://schemas.microsoft.com/office/drawing/2014/main" val="1975296765"/>
                    </a:ext>
                  </a:extLst>
                </a:gridCol>
                <a:gridCol w="3730954">
                  <a:extLst>
                    <a:ext uri="{9D8B030D-6E8A-4147-A177-3AD203B41FA5}">
                      <a16:colId xmlns:a16="http://schemas.microsoft.com/office/drawing/2014/main" val="1563690532"/>
                    </a:ext>
                  </a:extLst>
                </a:gridCol>
              </a:tblGrid>
              <a:tr h="370840">
                <a:tc>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No</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Problem</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Need</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gridSpan="4">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Priority</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hMerge="1">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Priority</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hMerge="1">
                  <a:txBody>
                    <a:bodyPr/>
                    <a:lstStyle/>
                    <a:p>
                      <a:pPr marL="0" marR="0" algn="ctr">
                        <a:lnSpc>
                          <a:spcPct val="115000"/>
                        </a:lnSpc>
                        <a:spcBef>
                          <a:spcPts val="0"/>
                        </a:spcBef>
                        <a:spcAft>
                          <a:spcPts val="0"/>
                        </a:spcAft>
                      </a:pP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hMerge="1">
                  <a:txBody>
                    <a:bodyPr/>
                    <a:lstStyle/>
                    <a:p>
                      <a:pPr marL="0" marR="0" algn="ctr">
                        <a:lnSpc>
                          <a:spcPct val="115000"/>
                        </a:lnSpc>
                        <a:spcBef>
                          <a:spcPts val="0"/>
                        </a:spcBef>
                        <a:spcAft>
                          <a:spcPts val="0"/>
                        </a:spcAft>
                      </a:pP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Features</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90610759"/>
                  </a:ext>
                </a:extLst>
              </a:tr>
              <a:tr h="282255">
                <a:tc gridSpan="8">
                  <a:txBody>
                    <a:bodyPr/>
                    <a:lstStyle/>
                    <a:p>
                      <a:pPr algn="ctr"/>
                      <a:r>
                        <a:rPr lang="en-US" sz="1200" b="1" dirty="0">
                          <a:latin typeface="+mn-lt"/>
                        </a:rPr>
                        <a:t>Admin</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43930646"/>
                  </a:ext>
                </a:extLst>
              </a:tr>
              <a:tr h="370840">
                <a:tc>
                  <a:txBody>
                    <a:bodyPr/>
                    <a:lstStyle/>
                    <a:p>
                      <a:pPr marL="0" marR="0" algn="ctr">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1</a:t>
                      </a:r>
                    </a:p>
                  </a:txBody>
                  <a:tcPr marL="68580" marR="68580" marT="0" marB="0" anchor="ctr"/>
                </a:tc>
                <a:tc>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The company offers six general type cars</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Cars must be divided by six types</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a:tc>
                <a:tc gridSpan="3">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Admin must separate vehicle information by six different type</a:t>
                      </a:r>
                    </a:p>
                  </a:txBody>
                  <a:tcPr marL="68580" marR="68580" marT="0" marB="0"/>
                </a:tc>
                <a:tc hMerge="1">
                  <a:txBody>
                    <a:bodyPr/>
                    <a:lstStyle/>
                    <a:p>
                      <a:endParaRPr lang="en-US"/>
                    </a:p>
                  </a:txBody>
                  <a:tcPr/>
                </a:tc>
                <a:tc hMerge="1">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Admin must separate vehicle information by six different type</a:t>
                      </a:r>
                    </a:p>
                  </a:txBody>
                  <a:tcPr marL="68580" marR="68580" marT="0" marB="0"/>
                </a:tc>
                <a:extLst>
                  <a:ext uri="{0D108BD9-81ED-4DB2-BD59-A6C34878D82A}">
                    <a16:rowId xmlns:a16="http://schemas.microsoft.com/office/drawing/2014/main" val="3304438575"/>
                  </a:ext>
                </a:extLst>
              </a:tr>
              <a:tr h="370840">
                <a:tc>
                  <a:txBody>
                    <a:bodyPr/>
                    <a:lstStyle/>
                    <a:p>
                      <a:pPr marL="0" marR="0" algn="ctr">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2</a:t>
                      </a:r>
                    </a:p>
                  </a:txBody>
                  <a:tcPr marL="68580" marR="68580" marT="0" marB="0" anchor="ctr"/>
                </a:tc>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Each car has a car type, year, mileage </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Cars can be categorized by car type, year, mileage and etc.</a:t>
                      </a: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tc hMerge="1">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a:tc>
                <a:tc gridSpan="3">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Admin must be able to add or delete vehicle information by car type, year, mileage etc.,</a:t>
                      </a:r>
                    </a:p>
                  </a:txBody>
                  <a:tcPr marL="68580" marR="68580" marT="0" marB="0"/>
                </a:tc>
                <a:tc hMerge="1">
                  <a:txBody>
                    <a:bodyPr/>
                    <a:lstStyle/>
                    <a:p>
                      <a:endParaRPr lang="en-US"/>
                    </a:p>
                  </a:txBody>
                  <a:tcPr/>
                </a:tc>
                <a:tc hMerge="1">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Admin must be able to add or delete vehicle information by car type, year, mileage etc.,</a:t>
                      </a: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91830123"/>
                  </a:ext>
                </a:extLst>
              </a:tr>
              <a:tr h="370840">
                <a:tc>
                  <a:txBody>
                    <a:bodyPr/>
                    <a:lstStyle/>
                    <a:p>
                      <a:pPr marL="0" marR="0" algn="ctr">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3</a:t>
                      </a:r>
                    </a:p>
                  </a:txBody>
                  <a:tcPr marL="68580" marR="68580" marT="0" marB="0" anchor="ctr"/>
                </a:tc>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Each location(branch) has their own vehicle information</a:t>
                      </a: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Cars located in 15 different places, they can be changed one another.</a:t>
                      </a:r>
                    </a:p>
                  </a:txBody>
                  <a:tcPr marL="68580" marR="68580" marT="0" marB="0"/>
                </a:tc>
                <a:tc hMerge="1">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a:tc>
                <a:tc gridSpan="3">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Admin must add, change and delete vehicles location information on the system</a:t>
                      </a:r>
                    </a:p>
                  </a:txBody>
                  <a:tcPr marL="68580" marR="68580" marT="0" marB="0"/>
                </a:tc>
                <a:tc hMerge="1">
                  <a:txBody>
                    <a:bodyPr/>
                    <a:lstStyle/>
                    <a:p>
                      <a:endParaRPr lang="en-US"/>
                    </a:p>
                  </a:txBody>
                  <a:tcPr/>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Admin must add, change and delete vehicles location information on the system</a:t>
                      </a:r>
                    </a:p>
                  </a:txBody>
                  <a:tcPr marL="68580" marR="68580" marT="0" marB="0"/>
                </a:tc>
                <a:extLst>
                  <a:ext uri="{0D108BD9-81ED-4DB2-BD59-A6C34878D82A}">
                    <a16:rowId xmlns:a16="http://schemas.microsoft.com/office/drawing/2014/main" val="195937988"/>
                  </a:ext>
                </a:extLst>
              </a:tr>
              <a:tr h="240876">
                <a:tc gridSpan="8">
                  <a:txBody>
                    <a:bodyPr/>
                    <a:lstStyle/>
                    <a:p>
                      <a:pPr algn="ctr"/>
                      <a:r>
                        <a:rPr lang="en-US" sz="1200" b="1" i="0" dirty="0">
                          <a:latin typeface="+mn-lt"/>
                        </a:rPr>
                        <a:t>Staff</a:t>
                      </a:r>
                    </a:p>
                  </a:txBody>
                  <a:tcPr/>
                </a:tc>
                <a:tc hMerge="1">
                  <a:txBody>
                    <a:bodyPr/>
                    <a:lstStyle/>
                    <a:p>
                      <a:endParaRPr lang="en-US" dirty="0"/>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4166280157"/>
                  </a:ext>
                </a:extLst>
              </a:tr>
              <a:tr h="37084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5</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Staffs can login the system with their own privileges</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 be able to view the vehicle information</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Staffs can login the system with their username and password which are given by Admin</a:t>
                      </a:r>
                    </a:p>
                  </a:txBody>
                  <a:tcPr marL="68580" marR="68580" marT="0" marB="0"/>
                </a:tc>
                <a:tc hMerge="1">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Staffs can login the system with their username and password which are given by Admin</a:t>
                      </a:r>
                    </a:p>
                  </a:txBody>
                  <a:tcPr marL="68580" marR="68580" marT="0" marB="0"/>
                </a:tc>
                <a:extLst>
                  <a:ext uri="{0D108BD9-81ED-4DB2-BD59-A6C34878D82A}">
                    <a16:rowId xmlns:a16="http://schemas.microsoft.com/office/drawing/2014/main" val="1405325198"/>
                  </a:ext>
                </a:extLst>
              </a:tr>
              <a:tr h="37084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6</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Staffs can reserve a car or cancel a reservation when customer requests him/her to do it</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Staffs can be able to reserve or cancel reservation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Staffs can reserve a car or cancel reservation on the system when customer ask them by phone, walk-in or by customer support service</a:t>
                      </a:r>
                    </a:p>
                  </a:txBody>
                  <a:tcPr marL="68580" marR="68580" marT="0" marB="0"/>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Staffs can reserve a car or cancel reservation on the system when customer ask them by phone, walk-in or by customer support service</a:t>
                      </a:r>
                    </a:p>
                  </a:txBody>
                  <a:tcPr marL="68580" marR="68580" marT="0" marB="0"/>
                </a:tc>
                <a:extLst>
                  <a:ext uri="{0D108BD9-81ED-4DB2-BD59-A6C34878D82A}">
                    <a16:rowId xmlns:a16="http://schemas.microsoft.com/office/drawing/2014/main" val="2816664006"/>
                  </a:ext>
                </a:extLst>
              </a:tr>
              <a:tr h="282200">
                <a:tc gridSpan="8">
                  <a:txBody>
                    <a:bodyPr/>
                    <a:lstStyle/>
                    <a:p>
                      <a:pPr algn="ctr"/>
                      <a:r>
                        <a:rPr lang="en-US" sz="1200" b="1" dirty="0">
                          <a:latin typeface="+mn-lt"/>
                        </a:rPr>
                        <a:t>Customer</a:t>
                      </a:r>
                    </a:p>
                  </a:txBody>
                  <a:tcPr/>
                </a:tc>
                <a:tc hMerge="1">
                  <a:txBody>
                    <a:bodyPr/>
                    <a:lstStyle/>
                    <a:p>
                      <a:endParaRPr lang="en-US" dirty="0"/>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466216339"/>
                  </a:ext>
                </a:extLst>
              </a:tr>
              <a:tr h="37084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7</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Customers can sign-up the system when they decided to rent a car or existing customers can sign-in the system with their own privileges</a:t>
                      </a: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Customers can be able to sign-up or sign-in to the system</a:t>
                      </a:r>
                    </a:p>
                  </a:txBody>
                  <a:tcPr marL="68580" marR="68580" marT="0" marB="0"/>
                </a:tc>
                <a:tc hMerge="1">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Customers can sign-up the system and create their personal info including payment information when they decided to rent a car (existing customers can sign-in the with their username and password which they created themselves)</a:t>
                      </a:r>
                    </a:p>
                  </a:txBody>
                  <a:tcPr marL="68580" marR="68580" marT="0" marB="0"/>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Customers can sign-up the system and create their personal info including payment information when they decided to rent a car (existing customers can sign-in the with their username and password which they created themselves)</a:t>
                      </a:r>
                    </a:p>
                  </a:txBody>
                  <a:tcPr marL="68580" marR="68580" marT="0" marB="0"/>
                </a:tc>
                <a:extLst>
                  <a:ext uri="{0D108BD9-81ED-4DB2-BD59-A6C34878D82A}">
                    <a16:rowId xmlns:a16="http://schemas.microsoft.com/office/drawing/2014/main" val="3192613793"/>
                  </a:ext>
                </a:extLst>
              </a:tr>
              <a:tr h="37084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8</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Customers can make or reservation for rental car on the system</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Customers can be able to reserve a car or cancel the reservation.</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Customers can reserve a car or cancel the reservation car, once customer signed-in the system.</a:t>
                      </a:r>
                    </a:p>
                  </a:txBody>
                  <a:tcPr marL="68580" marR="68580" marT="0" marB="0"/>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 Customers can reserve a car or cancel the reservation car, once customer signed-in the system.</a:t>
                      </a:r>
                    </a:p>
                  </a:txBody>
                  <a:tcPr marL="68580" marR="68580" marT="0" marB="0"/>
                </a:tc>
                <a:extLst>
                  <a:ext uri="{0D108BD9-81ED-4DB2-BD59-A6C34878D82A}">
                    <a16:rowId xmlns:a16="http://schemas.microsoft.com/office/drawing/2014/main" val="1937383606"/>
                  </a:ext>
                </a:extLst>
              </a:tr>
              <a:tr h="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9</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Customers can make a payment for rental car</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Customers can be able to make a payment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After choosing the rental car, customer must sign-in the system and make a payment for rental car one of the three different ways</a:t>
                      </a:r>
                    </a:p>
                  </a:txBody>
                  <a:tcPr marL="68580" marR="68580" marT="0" marB="0"/>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After choosing the rental car, customer must sign-in the system and make a payment for rental car one of the three different ways</a:t>
                      </a:r>
                    </a:p>
                  </a:txBody>
                  <a:tcPr marL="68580" marR="68580" marT="0" marB="0"/>
                </a:tc>
                <a:extLst>
                  <a:ext uri="{0D108BD9-81ED-4DB2-BD59-A6C34878D82A}">
                    <a16:rowId xmlns:a16="http://schemas.microsoft.com/office/drawing/2014/main" val="3994458559"/>
                  </a:ext>
                </a:extLst>
              </a:tr>
            </a:tbl>
          </a:graphicData>
        </a:graphic>
      </p:graphicFrame>
    </p:spTree>
    <p:extLst>
      <p:ext uri="{BB962C8B-B14F-4D97-AF65-F5344CB8AC3E}">
        <p14:creationId xmlns:p14="http://schemas.microsoft.com/office/powerpoint/2010/main" val="3925906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871" y="195265"/>
            <a:ext cx="10058400" cy="858031"/>
          </a:xfrm>
        </p:spPr>
        <p:txBody>
          <a:bodyPr>
            <a:normAutofit/>
          </a:bodyPr>
          <a:lstStyle/>
          <a:p>
            <a:r>
              <a:rPr lang="en-US" sz="4000"/>
              <a:t>II.Use-Case Diagram</a:t>
            </a:r>
            <a:endParaRPr lang="en-US" sz="4000" dirty="0"/>
          </a:p>
        </p:txBody>
      </p:sp>
      <p:pic>
        <p:nvPicPr>
          <p:cNvPr id="5" name="Content Placeholder 4">
            <a:extLst>
              <a:ext uri="{FF2B5EF4-FFF2-40B4-BE49-F238E27FC236}">
                <a16:creationId xmlns:a16="http://schemas.microsoft.com/office/drawing/2014/main" id="{6BEF5C33-2C1C-4462-BF56-BF3F99F3356F}"/>
              </a:ext>
            </a:extLst>
          </p:cNvPr>
          <p:cNvPicPr>
            <a:picLocks noGrp="1" noChangeAspect="1"/>
          </p:cNvPicPr>
          <p:nvPr>
            <p:ph idx="1"/>
          </p:nvPr>
        </p:nvPicPr>
        <p:blipFill>
          <a:blip r:embed="rId2"/>
          <a:stretch>
            <a:fillRect/>
          </a:stretch>
        </p:blipFill>
        <p:spPr>
          <a:xfrm>
            <a:off x="446887" y="1040705"/>
            <a:ext cx="10594241" cy="5622030"/>
          </a:xfrm>
        </p:spPr>
      </p:pic>
    </p:spTree>
    <p:extLst>
      <p:ext uri="{BB962C8B-B14F-4D97-AF65-F5344CB8AC3E}">
        <p14:creationId xmlns:p14="http://schemas.microsoft.com/office/powerpoint/2010/main" val="861739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287863"/>
            <a:ext cx="10058400" cy="730710"/>
          </a:xfrm>
        </p:spPr>
        <p:txBody>
          <a:bodyPr>
            <a:normAutofit/>
          </a:bodyPr>
          <a:lstStyle/>
          <a:p>
            <a:r>
              <a:rPr lang="en-US" sz="4000" dirty="0"/>
              <a:t>III. Use-Case Description</a:t>
            </a:r>
          </a:p>
        </p:txBody>
      </p:sp>
      <p:sp>
        <p:nvSpPr>
          <p:cNvPr id="3" name="Content Placeholder 2"/>
          <p:cNvSpPr>
            <a:spLocks noGrp="1"/>
          </p:cNvSpPr>
          <p:nvPr>
            <p:ph idx="1"/>
          </p:nvPr>
        </p:nvSpPr>
        <p:spPr>
          <a:xfrm>
            <a:off x="1069848" y="1018573"/>
            <a:ext cx="10433936" cy="5567422"/>
          </a:xfrm>
        </p:spPr>
        <p:txBody>
          <a:bodyPr>
            <a:normAutofit fontScale="92500" lnSpcReduction="10000"/>
          </a:bodyPr>
          <a:lstStyle/>
          <a:p>
            <a:pPr marL="0" indent="0">
              <a:buNone/>
            </a:pPr>
            <a:r>
              <a:rPr lang="en-US" dirty="0"/>
              <a:t>3.1. Name:  </a:t>
            </a:r>
            <a:r>
              <a:rPr lang="en-US" b="1" dirty="0"/>
              <a:t>Sign-up</a:t>
            </a:r>
          </a:p>
          <a:p>
            <a:pPr marL="0" indent="0">
              <a:buNone/>
            </a:pPr>
            <a:r>
              <a:rPr lang="en-US" dirty="0"/>
              <a:t>3.1.1. Brief Description</a:t>
            </a:r>
          </a:p>
          <a:p>
            <a:pPr marL="0" indent="0">
              <a:buNone/>
            </a:pPr>
            <a:r>
              <a:rPr lang="en-US" dirty="0"/>
              <a:t>This use case allows the Customer to signup to  the CAR RENTAL System.</a:t>
            </a:r>
          </a:p>
          <a:p>
            <a:pPr marL="0" indent="0">
              <a:buNone/>
            </a:pPr>
            <a:r>
              <a:rPr lang="en-US" dirty="0"/>
              <a:t>3.1.2. Actors: Customer</a:t>
            </a:r>
          </a:p>
          <a:p>
            <a:pPr marL="0" indent="0">
              <a:buNone/>
            </a:pPr>
            <a:r>
              <a:rPr lang="en-US" dirty="0"/>
              <a:t>3.1.3. Pre-Conditions: The user must have a driver license.</a:t>
            </a:r>
          </a:p>
          <a:p>
            <a:pPr marL="0" indent="0">
              <a:buNone/>
            </a:pPr>
            <a:r>
              <a:rPr lang="en-US" dirty="0"/>
              <a:t>3.1.4. Flow of events</a:t>
            </a:r>
          </a:p>
          <a:p>
            <a:pPr marL="0" indent="0">
              <a:buNone/>
            </a:pPr>
            <a:endParaRPr lang="en-US" dirty="0"/>
          </a:p>
          <a:p>
            <a:pPr marL="0" indent="0">
              <a:buNone/>
            </a:pPr>
            <a:endParaRPr lang="en-US" dirty="0"/>
          </a:p>
          <a:p>
            <a:pPr marL="0" indent="0">
              <a:buNone/>
            </a:pPr>
            <a:endParaRPr lang="en-US" dirty="0"/>
          </a:p>
          <a:p>
            <a:pPr marL="0" indent="0">
              <a:buNone/>
            </a:pPr>
            <a:r>
              <a:rPr lang="en-US" dirty="0"/>
              <a:t>3.1.5. Post-Conditions</a:t>
            </a:r>
          </a:p>
          <a:p>
            <a:pPr marL="0" indent="0">
              <a:buNone/>
            </a:pPr>
            <a:r>
              <a:rPr lang="en-US" dirty="0"/>
              <a:t>If the use case is successful, all information of the Customer save   into the system. If not, the system displays a message to contact office and provides by phone.</a:t>
            </a:r>
          </a:p>
          <a:p>
            <a:pPr marL="0" indent="0">
              <a:buNone/>
            </a:pPr>
            <a:r>
              <a:rPr lang="en-US" dirty="0"/>
              <a:t>3.1.6. Business Rules: </a:t>
            </a:r>
          </a:p>
          <a:p>
            <a:pPr marL="0" indent="0">
              <a:buNone/>
            </a:pPr>
            <a:r>
              <a:rPr lang="en-US" dirty="0"/>
              <a:t>Every customer and admin must be authenticated into the system.</a:t>
            </a:r>
          </a:p>
          <a:p>
            <a:pPr marL="0" indent="0">
              <a:buNone/>
            </a:pPr>
            <a:r>
              <a:rPr lang="en-US" dirty="0"/>
              <a:t>3.1.7. Nonfunctional requirement: None</a:t>
            </a:r>
          </a:p>
        </p:txBody>
      </p:sp>
      <p:graphicFrame>
        <p:nvGraphicFramePr>
          <p:cNvPr id="4" name="Table 3"/>
          <p:cNvGraphicFramePr>
            <a:graphicFrameLocks noGrp="1"/>
          </p:cNvGraphicFramePr>
          <p:nvPr>
            <p:extLst>
              <p:ext uri="{D42A27DB-BD31-4B8C-83A1-F6EECF244321}">
                <p14:modId xmlns:p14="http://schemas.microsoft.com/office/powerpoint/2010/main" val="1617857641"/>
              </p:ext>
            </p:extLst>
          </p:nvPr>
        </p:nvGraphicFramePr>
        <p:xfrm>
          <a:off x="1069848" y="3258803"/>
          <a:ext cx="10433936" cy="1086962"/>
        </p:xfrm>
        <a:graphic>
          <a:graphicData uri="http://schemas.openxmlformats.org/drawingml/2006/table">
            <a:tbl>
              <a:tblPr firstRow="1" bandRow="1">
                <a:tableStyleId>{8799B23B-EC83-4686-B30A-512413B5E67A}</a:tableStyleId>
              </a:tblPr>
              <a:tblGrid>
                <a:gridCol w="5216968">
                  <a:extLst>
                    <a:ext uri="{9D8B030D-6E8A-4147-A177-3AD203B41FA5}">
                      <a16:colId xmlns:a16="http://schemas.microsoft.com/office/drawing/2014/main" val="20000"/>
                    </a:ext>
                  </a:extLst>
                </a:gridCol>
                <a:gridCol w="5216968">
                  <a:extLst>
                    <a:ext uri="{9D8B030D-6E8A-4147-A177-3AD203B41FA5}">
                      <a16:colId xmlns:a16="http://schemas.microsoft.com/office/drawing/2014/main" val="20001"/>
                    </a:ext>
                  </a:extLst>
                </a:gridCol>
              </a:tblGrid>
              <a:tr h="321279">
                <a:tc>
                  <a:txBody>
                    <a:bodyPr/>
                    <a:lstStyle/>
                    <a:p>
                      <a:pPr marL="10795" marR="0" algn="ctr">
                        <a:lnSpc>
                          <a:spcPct val="107000"/>
                        </a:lnSpc>
                        <a:spcBef>
                          <a:spcPts val="0"/>
                        </a:spcBef>
                        <a:spcAft>
                          <a:spcPts val="0"/>
                        </a:spcAft>
                      </a:pPr>
                      <a:r>
                        <a:rPr lang="en-US" sz="1600" dirty="0">
                          <a:effectLst/>
                        </a:rPr>
                        <a:t>User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600">
                          <a:effectLst/>
                        </a:rPr>
                        <a:t>System Actions</a:t>
                      </a:r>
                      <a:endPar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370840">
                <a:tc>
                  <a:txBody>
                    <a:bodyPr/>
                    <a:lstStyle/>
                    <a:p>
                      <a:pPr marL="0" marR="0">
                        <a:lnSpc>
                          <a:spcPct val="91000"/>
                        </a:lnSpc>
                        <a:spcBef>
                          <a:spcPts val="0"/>
                        </a:spcBef>
                        <a:spcAft>
                          <a:spcPts val="0"/>
                        </a:spcAft>
                      </a:pPr>
                      <a:r>
                        <a:rPr lang="en-US" sz="1600" dirty="0">
                          <a:effectLst/>
                        </a:rPr>
                        <a:t>The user enter  first</a:t>
                      </a:r>
                      <a:r>
                        <a:rPr lang="en-US" sz="1600" baseline="0" dirty="0">
                          <a:effectLst/>
                        </a:rPr>
                        <a:t> n</a:t>
                      </a:r>
                      <a:r>
                        <a:rPr lang="en-US" sz="1600" dirty="0">
                          <a:effectLst/>
                        </a:rPr>
                        <a:t>ame, last</a:t>
                      </a:r>
                      <a:r>
                        <a:rPr lang="en-US" sz="1600" baseline="0" dirty="0">
                          <a:effectLst/>
                        </a:rPr>
                        <a:t> n</a:t>
                      </a:r>
                      <a:r>
                        <a:rPr lang="en-US" sz="1600" dirty="0">
                          <a:effectLst/>
                        </a:rPr>
                        <a:t>ame, sex, address, driver license and password into the  screen and clicks submit. </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24130" marR="0">
                        <a:lnSpc>
                          <a:spcPct val="99000"/>
                        </a:lnSpc>
                        <a:spcBef>
                          <a:spcPts val="0"/>
                        </a:spcBef>
                        <a:spcAft>
                          <a:spcPts val="0"/>
                        </a:spcAft>
                      </a:pPr>
                      <a:r>
                        <a:rPr lang="en-US" sz="1600" dirty="0">
                          <a:effectLst/>
                        </a:rPr>
                        <a:t>The system validates the all fields and the return a confirmation message with an ID.</a:t>
                      </a:r>
                    </a:p>
                    <a:p>
                      <a:pPr marL="0" marR="0">
                        <a:lnSpc>
                          <a:spcPct val="107000"/>
                        </a:lnSpc>
                        <a:spcBef>
                          <a:spcPts val="0"/>
                        </a:spcBef>
                        <a:spcAft>
                          <a:spcPts val="0"/>
                        </a:spcAft>
                      </a:pPr>
                      <a:r>
                        <a:rPr lang="en-US" sz="1600" dirty="0">
                          <a:effectLst/>
                        </a:rPr>
                        <a:t> </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25419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613328"/>
            <a:ext cx="10433936" cy="5567422"/>
          </a:xfrm>
        </p:spPr>
        <p:txBody>
          <a:bodyPr>
            <a:normAutofit fontScale="92500" lnSpcReduction="20000"/>
          </a:bodyPr>
          <a:lstStyle/>
          <a:p>
            <a:pPr marL="0" indent="0">
              <a:buNone/>
            </a:pPr>
            <a:r>
              <a:rPr lang="en-US" dirty="0"/>
              <a:t>3.1. Name:  </a:t>
            </a:r>
            <a:r>
              <a:rPr lang="en-US" b="1" dirty="0"/>
              <a:t>Sign-in</a:t>
            </a:r>
          </a:p>
          <a:p>
            <a:pPr marL="0" indent="0">
              <a:buNone/>
            </a:pPr>
            <a:r>
              <a:rPr lang="en-US" dirty="0"/>
              <a:t>3.2.1. Brief Description</a:t>
            </a:r>
          </a:p>
          <a:p>
            <a:pPr marL="0" indent="0">
              <a:buNone/>
            </a:pPr>
            <a:r>
              <a:rPr lang="en-US" dirty="0"/>
              <a:t>This use case allows the administrator or the Customer to signup to the system</a:t>
            </a:r>
          </a:p>
          <a:p>
            <a:pPr marL="0" indent="0">
              <a:buNone/>
            </a:pPr>
            <a:r>
              <a:rPr lang="en-US" dirty="0"/>
              <a:t>3.2.2. Actors: Customer, Admin</a:t>
            </a:r>
          </a:p>
          <a:p>
            <a:pPr marL="0" indent="0">
              <a:buNone/>
            </a:pPr>
            <a:r>
              <a:rPr lang="en-US" dirty="0"/>
              <a:t>3.2.3. Pre-Conditions: The users have an Account in the system and then Admin or Customer privileges.</a:t>
            </a:r>
          </a:p>
          <a:p>
            <a:pPr marL="0" indent="0">
              <a:buNone/>
            </a:pPr>
            <a:r>
              <a:rPr lang="en-US" dirty="0"/>
              <a:t>3.2.4. Flow of events</a:t>
            </a:r>
          </a:p>
          <a:p>
            <a:pPr marL="0" indent="0">
              <a:buNone/>
            </a:pPr>
            <a:endParaRPr lang="en-US" dirty="0"/>
          </a:p>
          <a:p>
            <a:pPr marL="0" indent="0">
              <a:buNone/>
            </a:pPr>
            <a:endParaRPr lang="en-US" dirty="0"/>
          </a:p>
          <a:p>
            <a:pPr marL="0" indent="0">
              <a:buNone/>
            </a:pPr>
            <a:endParaRPr lang="en-US" dirty="0"/>
          </a:p>
          <a:p>
            <a:pPr marL="0" indent="0">
              <a:buNone/>
            </a:pPr>
            <a:r>
              <a:rPr lang="en-US" dirty="0"/>
              <a:t>3.2.5. Post-Conditions</a:t>
            </a:r>
          </a:p>
          <a:p>
            <a:pPr marL="0" indent="0">
              <a:buNone/>
            </a:pPr>
            <a:r>
              <a:rPr lang="en-US" dirty="0"/>
              <a:t>If the use case is successful, the Customer or Admin is logged into the system. If not, the system displays a message to contact office and provides by phone.</a:t>
            </a:r>
          </a:p>
          <a:p>
            <a:pPr marL="0" indent="0">
              <a:buNone/>
            </a:pPr>
            <a:r>
              <a:rPr lang="en-US" dirty="0"/>
              <a:t>3.2.6. Business Rules: </a:t>
            </a:r>
          </a:p>
          <a:p>
            <a:pPr marL="0" indent="0">
              <a:buNone/>
            </a:pPr>
            <a:r>
              <a:rPr lang="en-US" dirty="0"/>
              <a:t>Every customer and admin must be authenticated into the system.</a:t>
            </a:r>
          </a:p>
          <a:p>
            <a:pPr marL="0" indent="0">
              <a:buNone/>
            </a:pPr>
            <a:r>
              <a:rPr lang="en-US" dirty="0"/>
              <a:t>3.2.7. Nonfunctional requirement: None</a:t>
            </a:r>
          </a:p>
        </p:txBody>
      </p:sp>
      <p:graphicFrame>
        <p:nvGraphicFramePr>
          <p:cNvPr id="4" name="Table 3"/>
          <p:cNvGraphicFramePr>
            <a:graphicFrameLocks noGrp="1"/>
          </p:cNvGraphicFramePr>
          <p:nvPr>
            <p:extLst>
              <p:ext uri="{D42A27DB-BD31-4B8C-83A1-F6EECF244321}">
                <p14:modId xmlns:p14="http://schemas.microsoft.com/office/powerpoint/2010/main" val="2911377227"/>
              </p:ext>
            </p:extLst>
          </p:nvPr>
        </p:nvGraphicFramePr>
        <p:xfrm>
          <a:off x="1069848" y="2857114"/>
          <a:ext cx="10433936" cy="1079850"/>
        </p:xfrm>
        <a:graphic>
          <a:graphicData uri="http://schemas.openxmlformats.org/drawingml/2006/table">
            <a:tbl>
              <a:tblPr firstRow="1" bandRow="1">
                <a:tableStyleId>{8799B23B-EC83-4686-B30A-512413B5E67A}</a:tableStyleId>
              </a:tblPr>
              <a:tblGrid>
                <a:gridCol w="3316957">
                  <a:extLst>
                    <a:ext uri="{9D8B030D-6E8A-4147-A177-3AD203B41FA5}">
                      <a16:colId xmlns:a16="http://schemas.microsoft.com/office/drawing/2014/main" val="20000"/>
                    </a:ext>
                  </a:extLst>
                </a:gridCol>
                <a:gridCol w="7116979">
                  <a:extLst>
                    <a:ext uri="{9D8B030D-6E8A-4147-A177-3AD203B41FA5}">
                      <a16:colId xmlns:a16="http://schemas.microsoft.com/office/drawing/2014/main" val="20001"/>
                    </a:ext>
                  </a:extLst>
                </a:gridCol>
              </a:tblGrid>
              <a:tr h="321279">
                <a:tc>
                  <a:txBody>
                    <a:bodyPr/>
                    <a:lstStyle/>
                    <a:p>
                      <a:pPr marL="10795" marR="0" algn="ctr">
                        <a:lnSpc>
                          <a:spcPct val="107000"/>
                        </a:lnSpc>
                        <a:spcBef>
                          <a:spcPts val="0"/>
                        </a:spcBef>
                        <a:spcAft>
                          <a:spcPts val="0"/>
                        </a:spcAft>
                      </a:pPr>
                      <a:r>
                        <a:rPr lang="en-US" sz="1600" dirty="0">
                          <a:effectLst/>
                        </a:rPr>
                        <a:t>User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600">
                          <a:effectLst/>
                        </a:rPr>
                        <a:t>System Actions</a:t>
                      </a:r>
                      <a:endPar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370840">
                <a:tc>
                  <a:txBody>
                    <a:bodyPr/>
                    <a:lstStyle/>
                    <a:p>
                      <a:pPr marL="0" marR="0">
                        <a:lnSpc>
                          <a:spcPct val="91000"/>
                        </a:lnSpc>
                        <a:spcBef>
                          <a:spcPts val="0"/>
                        </a:spcBef>
                        <a:spcAft>
                          <a:spcPts val="0"/>
                        </a:spcAft>
                      </a:pPr>
                      <a:r>
                        <a:rPr lang="en-US"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The user inputs username and password into the login screen and clicks submit.</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24130" marR="0">
                        <a:lnSpc>
                          <a:spcPct val="99000"/>
                        </a:lnSpc>
                        <a:spcBef>
                          <a:spcPts val="0"/>
                        </a:spcBef>
                        <a:spcAft>
                          <a:spcPts val="0"/>
                        </a:spcAft>
                      </a:pPr>
                      <a:r>
                        <a:rPr lang="en-US"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The system validates the entered username and password and logs the user into the system with User interface components according to the user type (Customer page or Admin page)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76956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475092"/>
            <a:ext cx="10433936" cy="5567422"/>
          </a:xfrm>
        </p:spPr>
        <p:txBody>
          <a:bodyPr>
            <a:normAutofit fontScale="92500" lnSpcReduction="10000"/>
          </a:bodyPr>
          <a:lstStyle/>
          <a:p>
            <a:pPr marL="0" indent="0">
              <a:buNone/>
            </a:pPr>
            <a:r>
              <a:rPr lang="en-US" dirty="0"/>
              <a:t>3.3. Name:  </a:t>
            </a:r>
            <a:r>
              <a:rPr lang="en-US" b="1" dirty="0"/>
              <a:t>Add car</a:t>
            </a:r>
          </a:p>
          <a:p>
            <a:pPr marL="0" indent="0">
              <a:buNone/>
            </a:pPr>
            <a:r>
              <a:rPr lang="en-US" dirty="0"/>
              <a:t>3.3.1. Brief Description</a:t>
            </a:r>
          </a:p>
          <a:p>
            <a:pPr marL="0" indent="0">
              <a:buNone/>
            </a:pPr>
            <a:r>
              <a:rPr lang="en-US" dirty="0"/>
              <a:t>This use case allows the administrator do add a new car</a:t>
            </a:r>
          </a:p>
          <a:p>
            <a:pPr marL="0" indent="0">
              <a:buNone/>
            </a:pPr>
            <a:r>
              <a:rPr lang="en-US" dirty="0"/>
              <a:t>3.3.2. Actors: Admin</a:t>
            </a:r>
          </a:p>
          <a:p>
            <a:pPr marL="0" lvl="0" indent="0">
              <a:buNone/>
            </a:pPr>
            <a:r>
              <a:rPr lang="en-US" dirty="0"/>
              <a:t>3.3.3. Pre-Conditions: The user must  have  logged in to the system  </a:t>
            </a:r>
          </a:p>
          <a:p>
            <a:pPr marL="0" indent="0">
              <a:buNone/>
            </a:pPr>
            <a:r>
              <a:rPr lang="en-US" dirty="0"/>
              <a:t>3.3.4. Flow of events</a:t>
            </a:r>
          </a:p>
          <a:p>
            <a:pPr marL="0" indent="0">
              <a:buNone/>
            </a:pPr>
            <a:endParaRPr lang="en-US" dirty="0"/>
          </a:p>
          <a:p>
            <a:pPr marL="0" indent="0">
              <a:buNone/>
            </a:pPr>
            <a:endParaRPr lang="en-US" dirty="0"/>
          </a:p>
          <a:p>
            <a:pPr marL="0" indent="0">
              <a:buNone/>
            </a:pPr>
            <a:endParaRPr lang="en-US" dirty="0"/>
          </a:p>
          <a:p>
            <a:pPr marL="0" indent="0">
              <a:buNone/>
            </a:pPr>
            <a:r>
              <a:rPr lang="en-US" dirty="0"/>
              <a:t>3.3.5. Post-Conditions</a:t>
            </a:r>
          </a:p>
          <a:p>
            <a:pPr marL="0" indent="0">
              <a:buNone/>
            </a:pPr>
            <a:r>
              <a:rPr lang="en-US" dirty="0"/>
              <a:t>If the response is ok, redirect to see the list of cars. If the response is failed, needs to show the message. </a:t>
            </a:r>
          </a:p>
          <a:p>
            <a:pPr marL="0" indent="0">
              <a:buNone/>
            </a:pPr>
            <a:r>
              <a:rPr lang="en-US" dirty="0"/>
              <a:t>3.3.6. Business Rules: </a:t>
            </a:r>
          </a:p>
          <a:p>
            <a:pPr marL="0" indent="0">
              <a:buNone/>
            </a:pPr>
            <a:r>
              <a:rPr lang="en-US" dirty="0"/>
              <a:t>Admin must be authenticated into the system.</a:t>
            </a:r>
          </a:p>
          <a:p>
            <a:pPr marL="0" indent="0">
              <a:buNone/>
            </a:pPr>
            <a:r>
              <a:rPr lang="en-US" dirty="0"/>
              <a:t>3.3.7. Nonfunctional requirement: None</a:t>
            </a:r>
          </a:p>
        </p:txBody>
      </p:sp>
      <p:graphicFrame>
        <p:nvGraphicFramePr>
          <p:cNvPr id="4" name="Table 3"/>
          <p:cNvGraphicFramePr>
            <a:graphicFrameLocks noGrp="1"/>
          </p:cNvGraphicFramePr>
          <p:nvPr>
            <p:extLst>
              <p:ext uri="{D42A27DB-BD31-4B8C-83A1-F6EECF244321}">
                <p14:modId xmlns:p14="http://schemas.microsoft.com/office/powerpoint/2010/main" val="2083801815"/>
              </p:ext>
            </p:extLst>
          </p:nvPr>
        </p:nvGraphicFramePr>
        <p:xfrm>
          <a:off x="1069848" y="2820097"/>
          <a:ext cx="10433936" cy="862236"/>
        </p:xfrm>
        <a:graphic>
          <a:graphicData uri="http://schemas.openxmlformats.org/drawingml/2006/table">
            <a:tbl>
              <a:tblPr firstRow="1" bandRow="1">
                <a:tableStyleId>{8799B23B-EC83-4686-B30A-512413B5E67A}</a:tableStyleId>
              </a:tblPr>
              <a:tblGrid>
                <a:gridCol w="5216968">
                  <a:extLst>
                    <a:ext uri="{9D8B030D-6E8A-4147-A177-3AD203B41FA5}">
                      <a16:colId xmlns:a16="http://schemas.microsoft.com/office/drawing/2014/main" val="20000"/>
                    </a:ext>
                  </a:extLst>
                </a:gridCol>
                <a:gridCol w="5216968">
                  <a:extLst>
                    <a:ext uri="{9D8B030D-6E8A-4147-A177-3AD203B41FA5}">
                      <a16:colId xmlns:a16="http://schemas.microsoft.com/office/drawing/2014/main" val="20001"/>
                    </a:ext>
                  </a:extLst>
                </a:gridCol>
              </a:tblGrid>
              <a:tr h="321279">
                <a:tc>
                  <a:txBody>
                    <a:bodyPr/>
                    <a:lstStyle/>
                    <a:p>
                      <a:pPr marL="10795" marR="0" algn="ctr">
                        <a:lnSpc>
                          <a:spcPct val="107000"/>
                        </a:lnSpc>
                        <a:spcBef>
                          <a:spcPts val="0"/>
                        </a:spcBef>
                        <a:spcAft>
                          <a:spcPts val="0"/>
                        </a:spcAft>
                      </a:pPr>
                      <a:r>
                        <a:rPr lang="en-US" sz="1600" dirty="0">
                          <a:effectLst/>
                        </a:rPr>
                        <a:t>User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600" dirty="0">
                          <a:effectLst/>
                        </a:rPr>
                        <a:t>System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370840">
                <a:tc>
                  <a:txBody>
                    <a:bodyPr/>
                    <a:lstStyle/>
                    <a:p>
                      <a:pPr marL="0" marR="0">
                        <a:lnSpc>
                          <a:spcPct val="107000"/>
                        </a:lnSpc>
                        <a:spcBef>
                          <a:spcPts val="0"/>
                        </a:spcBef>
                        <a:spcAft>
                          <a:spcPts val="0"/>
                        </a:spcAft>
                      </a:pPr>
                      <a:r>
                        <a:rPr lang="en-US" sz="1600" dirty="0">
                          <a:solidFill>
                            <a:srgbClr val="000000"/>
                          </a:solidFill>
                          <a:effectLst/>
                          <a:latin typeface="+mn-lt"/>
                          <a:ea typeface="Arial" panose="020B0604020202020204" pitchFamily="34" charset="0"/>
                          <a:cs typeface="Times New Roman" panose="02020603050405020304" pitchFamily="18" charset="0"/>
                        </a:rPr>
                        <a:t>The Administrator fill the fields of the from add new car	 </a:t>
                      </a:r>
                      <a:endParaRPr lang="en-US" sz="1600" dirty="0">
                        <a:solidFill>
                          <a:srgbClr val="000000"/>
                        </a:solidFill>
                        <a:effectLst/>
                        <a:latin typeface="+mn-lt"/>
                        <a:ea typeface="Calibri" panose="020F0502020204030204" pitchFamily="34" charset="0"/>
                        <a:cs typeface="Times New Roman" panose="02020603050405020304" pitchFamily="18" charset="0"/>
                      </a:endParaRPr>
                    </a:p>
                  </a:txBody>
                  <a:tcPr marL="36830" marR="63500" marT="34290" marB="0"/>
                </a:tc>
                <a:tc>
                  <a:txBody>
                    <a:bodyPr/>
                    <a:lstStyle/>
                    <a:p>
                      <a:pPr marL="27940" marR="0" algn="just">
                        <a:lnSpc>
                          <a:spcPct val="107000"/>
                        </a:lnSpc>
                        <a:spcBef>
                          <a:spcPts val="0"/>
                        </a:spcBef>
                        <a:spcAft>
                          <a:spcPts val="395"/>
                        </a:spcAft>
                      </a:pPr>
                      <a:r>
                        <a:rPr lang="en-US" sz="1600" dirty="0">
                          <a:solidFill>
                            <a:srgbClr val="000000"/>
                          </a:solidFill>
                          <a:effectLst/>
                          <a:latin typeface="+mn-lt"/>
                          <a:ea typeface="Times New Roman" panose="02020603050405020304" pitchFamily="18" charset="0"/>
                          <a:cs typeface="Times New Roman" panose="02020603050405020304" pitchFamily="18" charset="0"/>
                        </a:rPr>
                        <a:t>The System save the new car and retrieve the status </a:t>
                      </a:r>
                      <a:endParaRPr lang="en-US" sz="1600" dirty="0">
                        <a:solidFill>
                          <a:srgbClr val="000000"/>
                        </a:solidFill>
                        <a:effectLst/>
                        <a:latin typeface="+mn-lt"/>
                        <a:ea typeface="Calibri" panose="020F0502020204030204" pitchFamily="34" charset="0"/>
                        <a:cs typeface="Times New Roman" panose="02020603050405020304" pitchFamily="18" charset="0"/>
                      </a:endParaRPr>
                    </a:p>
                  </a:txBody>
                  <a:tcPr marL="36830" marR="63500" marT="3429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18607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5124" y="430236"/>
            <a:ext cx="10832452" cy="6105645"/>
          </a:xfrm>
        </p:spPr>
        <p:txBody>
          <a:bodyPr>
            <a:normAutofit fontScale="85000" lnSpcReduction="20000"/>
          </a:bodyPr>
          <a:lstStyle/>
          <a:p>
            <a:pPr marL="0" indent="0">
              <a:buNone/>
            </a:pPr>
            <a:r>
              <a:rPr lang="en-US" dirty="0"/>
              <a:t>3.4. Name:  </a:t>
            </a:r>
            <a:r>
              <a:rPr lang="en-US" b="1" dirty="0"/>
              <a:t>ReserveCar</a:t>
            </a:r>
          </a:p>
          <a:p>
            <a:pPr marL="0" indent="0">
              <a:buNone/>
            </a:pPr>
            <a:r>
              <a:rPr lang="en-US" dirty="0"/>
              <a:t>3.4.1. Brief Description</a:t>
            </a:r>
          </a:p>
          <a:p>
            <a:pPr marL="0" indent="0">
              <a:buNone/>
            </a:pPr>
            <a:r>
              <a:rPr lang="en-US" b="1" dirty="0"/>
              <a:t> </a:t>
            </a:r>
            <a:r>
              <a:rPr lang="en-US" dirty="0"/>
              <a:t>This use case allows the customer request for a booking a car </a:t>
            </a:r>
          </a:p>
          <a:p>
            <a:pPr marL="0" indent="0">
              <a:buNone/>
            </a:pPr>
            <a:r>
              <a:rPr lang="en-US" dirty="0"/>
              <a:t>3.4.2. Actors: Customer/Staff</a:t>
            </a:r>
          </a:p>
          <a:p>
            <a:pPr marL="0" indent="0">
              <a:buNone/>
            </a:pPr>
            <a:r>
              <a:rPr lang="en-US" dirty="0"/>
              <a:t>3.4.3. Pre-Conditions:</a:t>
            </a:r>
          </a:p>
          <a:p>
            <a:pPr marL="0" lvl="0" indent="0">
              <a:buNone/>
            </a:pPr>
            <a:r>
              <a:rPr lang="en-US" dirty="0"/>
              <a:t>The customer and staff must logged in to the system</a:t>
            </a:r>
          </a:p>
          <a:p>
            <a:pPr marL="0" indent="0">
              <a:buNone/>
            </a:pPr>
            <a:r>
              <a:rPr lang="en-US" dirty="0"/>
              <a:t>3.4.4. Flow of events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3.4.5. Post-Conditions: The status of the car will be changed, and the booking detail will be persisted on database 	</a:t>
            </a:r>
          </a:p>
          <a:p>
            <a:pPr marL="0" indent="0">
              <a:buNone/>
            </a:pPr>
            <a:r>
              <a:rPr lang="en-US" dirty="0"/>
              <a:t>3.4.6. Business Rules: </a:t>
            </a:r>
          </a:p>
          <a:p>
            <a:pPr marL="0" indent="0">
              <a:buNone/>
            </a:pPr>
            <a:r>
              <a:rPr lang="en-US" dirty="0"/>
              <a:t>Total cost of booking must not exceed the customer's current balance </a:t>
            </a:r>
          </a:p>
          <a:p>
            <a:pPr marL="0" indent="0">
              <a:buNone/>
            </a:pPr>
            <a:r>
              <a:rPr lang="en-US" dirty="0"/>
              <a:t>3.4.7. Nonfunctional requirement: None</a:t>
            </a:r>
          </a:p>
        </p:txBody>
      </p:sp>
      <p:graphicFrame>
        <p:nvGraphicFramePr>
          <p:cNvPr id="4" name="Table 3"/>
          <p:cNvGraphicFramePr>
            <a:graphicFrameLocks noGrp="1"/>
          </p:cNvGraphicFramePr>
          <p:nvPr>
            <p:extLst>
              <p:ext uri="{D42A27DB-BD31-4B8C-83A1-F6EECF244321}">
                <p14:modId xmlns:p14="http://schemas.microsoft.com/office/powerpoint/2010/main" val="2514001625"/>
              </p:ext>
            </p:extLst>
          </p:nvPr>
        </p:nvGraphicFramePr>
        <p:xfrm>
          <a:off x="735124" y="2689578"/>
          <a:ext cx="10624107" cy="2109417"/>
        </p:xfrm>
        <a:graphic>
          <a:graphicData uri="http://schemas.openxmlformats.org/drawingml/2006/table">
            <a:tbl>
              <a:tblPr firstRow="1" bandRow="1">
                <a:tableStyleId>{8799B23B-EC83-4686-B30A-512413B5E67A}</a:tableStyleId>
              </a:tblPr>
              <a:tblGrid>
                <a:gridCol w="3365629">
                  <a:extLst>
                    <a:ext uri="{9D8B030D-6E8A-4147-A177-3AD203B41FA5}">
                      <a16:colId xmlns:a16="http://schemas.microsoft.com/office/drawing/2014/main" val="20000"/>
                    </a:ext>
                  </a:extLst>
                </a:gridCol>
                <a:gridCol w="7258478">
                  <a:extLst>
                    <a:ext uri="{9D8B030D-6E8A-4147-A177-3AD203B41FA5}">
                      <a16:colId xmlns:a16="http://schemas.microsoft.com/office/drawing/2014/main" val="20001"/>
                    </a:ext>
                  </a:extLst>
                </a:gridCol>
              </a:tblGrid>
              <a:tr h="350745">
                <a:tc>
                  <a:txBody>
                    <a:bodyPr/>
                    <a:lstStyle/>
                    <a:p>
                      <a:pPr marL="10795" marR="0" algn="ctr">
                        <a:lnSpc>
                          <a:spcPct val="107000"/>
                        </a:lnSpc>
                        <a:spcBef>
                          <a:spcPts val="0"/>
                        </a:spcBef>
                        <a:spcAft>
                          <a:spcPts val="0"/>
                        </a:spcAft>
                      </a:pPr>
                      <a:r>
                        <a:rPr lang="en-US" sz="1600" dirty="0">
                          <a:effectLst/>
                        </a:rPr>
                        <a:t>User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600" dirty="0">
                          <a:effectLst/>
                        </a:rPr>
                        <a:t>System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825095">
                <a:tc>
                  <a:txBody>
                    <a:bodyPr/>
                    <a:lstStyle/>
                    <a:p>
                      <a:pPr marL="0" marR="0" algn="just">
                        <a:lnSpc>
                          <a:spcPct val="107000"/>
                        </a:lnSpc>
                        <a:spcBef>
                          <a:spcPts val="0"/>
                        </a:spcBef>
                        <a:spcAft>
                          <a:spcPts val="55"/>
                        </a:spcAft>
                      </a:pPr>
                      <a:r>
                        <a:rPr lang="en-US" sz="1400" dirty="0">
                          <a:solidFill>
                            <a:srgbClr val="000000"/>
                          </a:solidFill>
                          <a:effectLst/>
                          <a:latin typeface="+mn-lt"/>
                          <a:ea typeface="Arial" panose="020B0604020202020204" pitchFamily="34" charset="0"/>
                          <a:cs typeface="Times New Roman" panose="02020603050405020304" pitchFamily="18" charset="0"/>
                        </a:rPr>
                        <a:t>The customer selects a car and press "View Detail" button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dirty="0">
                          <a:solidFill>
                            <a:srgbClr val="000000"/>
                          </a:solidFill>
                          <a:effectLst/>
                          <a:latin typeface="+mn-lt"/>
                          <a:ea typeface="Calibri" panose="020F0502020204030204" pitchFamily="34" charset="0"/>
                          <a:cs typeface="Times New Roman" panose="02020603050405020304" pitchFamily="18" charset="0"/>
                        </a:rPr>
                        <a:t> </a:t>
                      </a:r>
                    </a:p>
                  </a:txBody>
                  <a:tcPr marL="36830" marR="45720" marT="33655" marB="0"/>
                </a:tc>
                <a:tc>
                  <a:txBody>
                    <a:bodyPr/>
                    <a:lstStyle/>
                    <a:p>
                      <a:pPr marL="27940" marR="0">
                        <a:lnSpc>
                          <a:spcPct val="107000"/>
                        </a:lnSpc>
                        <a:spcBef>
                          <a:spcPts val="0"/>
                        </a:spcBef>
                        <a:spcAft>
                          <a:spcPts val="100"/>
                        </a:spcAft>
                      </a:pPr>
                      <a:r>
                        <a:rPr lang="en-US" sz="1400">
                          <a:solidFill>
                            <a:srgbClr val="000000"/>
                          </a:solidFill>
                          <a:effectLst/>
                          <a:latin typeface="+mn-lt"/>
                          <a:ea typeface="Arial" panose="020B0604020202020204" pitchFamily="34" charset="0"/>
                          <a:cs typeface="Times New Roman" panose="02020603050405020304" pitchFamily="18" charset="0"/>
                        </a:rPr>
                        <a:t>The system displays detail of the selected car</a:t>
                      </a:r>
                      <a:r>
                        <a:rPr lang="en-US" sz="1400">
                          <a:solidFill>
                            <a:srgbClr val="000000"/>
                          </a:solidFill>
                          <a:effectLst/>
                          <a:latin typeface="+mn-lt"/>
                          <a:ea typeface="Times New Roman" panose="02020603050405020304" pitchFamily="18" charset="0"/>
                          <a:cs typeface="Times New Roman" panose="02020603050405020304" pitchFamily="18" charset="0"/>
                        </a:rPr>
                        <a:t> </a:t>
                      </a:r>
                      <a:endParaRPr lang="en-US" sz="1400">
                        <a:solidFill>
                          <a:srgbClr val="000000"/>
                        </a:solidFill>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a:solidFill>
                            <a:srgbClr val="000000"/>
                          </a:solidFill>
                          <a:effectLst/>
                          <a:latin typeface="+mn-lt"/>
                          <a:ea typeface="Calibri" panose="020F0502020204030204" pitchFamily="34" charset="0"/>
                          <a:cs typeface="Times New Roman" panose="02020603050405020304" pitchFamily="18" charset="0"/>
                        </a:rPr>
                        <a:t> </a:t>
                      </a:r>
                    </a:p>
                  </a:txBody>
                  <a:tcPr marL="36830" marR="45720" marT="33655" marB="0"/>
                </a:tc>
                <a:extLst>
                  <a:ext uri="{0D108BD9-81ED-4DB2-BD59-A6C34878D82A}">
                    <a16:rowId xmlns:a16="http://schemas.microsoft.com/office/drawing/2014/main" val="10001"/>
                  </a:ext>
                </a:extLst>
              </a:tr>
              <a:tr h="370840">
                <a:tc>
                  <a:txBody>
                    <a:bodyPr/>
                    <a:lstStyle/>
                    <a:p>
                      <a:pPr marL="0" marR="0">
                        <a:lnSpc>
                          <a:spcPct val="107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The customer view car detail, fill rent duration and press   button</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5720" marT="33655" marB="0"/>
                </a:tc>
                <a:tc>
                  <a:txBody>
                    <a:bodyPr/>
                    <a:lstStyle/>
                    <a:p>
                      <a:pPr marL="0" marR="0">
                        <a:lnSpc>
                          <a:spcPct val="107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The system checks if the input is valid and displays confirmation page.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nSpc>
                          <a:spcPct val="107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 The system displays appropriate error message and redirect the user on the same page</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nSpc>
                          <a:spcPct val="107000"/>
                        </a:lnSpc>
                        <a:spcBef>
                          <a:spcPts val="0"/>
                        </a:spcBef>
                        <a:spcAft>
                          <a:spcPts val="100"/>
                        </a:spcAft>
                      </a:pPr>
                      <a:r>
                        <a:rPr lang="en-US" sz="1400" dirty="0">
                          <a:solidFill>
                            <a:srgbClr val="000000"/>
                          </a:solidFill>
                          <a:effectLst/>
                          <a:latin typeface="+mn-lt"/>
                          <a:ea typeface="Arial" panose="020B0604020202020204" pitchFamily="34" charset="0"/>
                          <a:cs typeface="Times New Roman" panose="02020603050405020304" pitchFamily="18" charset="0"/>
                        </a:rPr>
                        <a:t>Go to step 2</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5720" marT="33655"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83410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7894" y="613328"/>
            <a:ext cx="10433936" cy="5567422"/>
          </a:xfrm>
        </p:spPr>
        <p:txBody>
          <a:bodyPr>
            <a:normAutofit/>
          </a:bodyPr>
          <a:lstStyle/>
          <a:p>
            <a:pPr marL="0" indent="0">
              <a:buNone/>
            </a:pPr>
            <a:r>
              <a:rPr lang="en-US" sz="1600" dirty="0"/>
              <a:t>3.5. Name:  </a:t>
            </a:r>
            <a:r>
              <a:rPr lang="en-US" sz="1600" b="1" dirty="0"/>
              <a:t>Make Payment</a:t>
            </a:r>
          </a:p>
          <a:p>
            <a:pPr marL="0" indent="0">
              <a:buNone/>
            </a:pPr>
            <a:r>
              <a:rPr lang="en-US" sz="1600" dirty="0"/>
              <a:t>3.5.1. Brief Description</a:t>
            </a:r>
          </a:p>
          <a:p>
            <a:pPr marL="0" indent="0">
              <a:buNone/>
            </a:pPr>
            <a:r>
              <a:rPr lang="en-US" sz="1600" dirty="0"/>
              <a:t>This use case allows the customer do payment using of new platform.</a:t>
            </a:r>
          </a:p>
          <a:p>
            <a:pPr marL="0" indent="0">
              <a:buNone/>
            </a:pPr>
            <a:r>
              <a:rPr lang="en-US" sz="1600" dirty="0"/>
              <a:t>3.5.2. Actors: Customer </a:t>
            </a:r>
          </a:p>
          <a:p>
            <a:pPr marL="0" indent="0">
              <a:buNone/>
            </a:pPr>
            <a:r>
              <a:rPr lang="en-US" sz="1600" dirty="0"/>
              <a:t>3.5.3. Pre-Conditions: </a:t>
            </a:r>
          </a:p>
          <a:p>
            <a:pPr lvl="0"/>
            <a:r>
              <a:rPr lang="en-US" sz="1600" dirty="0"/>
              <a:t>The customer must logged in to the system and before select a car to do payment. </a:t>
            </a:r>
          </a:p>
          <a:p>
            <a:pPr lvl="0"/>
            <a:r>
              <a:rPr lang="en-US" sz="1600" dirty="0"/>
              <a:t>The customer has enough money on her account to do payment. </a:t>
            </a:r>
          </a:p>
          <a:p>
            <a:r>
              <a:rPr lang="en-US" sz="1600" dirty="0"/>
              <a:t>The Flow of do Booking sent a request with details about this transaction </a:t>
            </a:r>
          </a:p>
          <a:p>
            <a:pPr marL="0" indent="0">
              <a:buNone/>
            </a:pPr>
            <a:r>
              <a:rPr lang="en-US" sz="1600" dirty="0"/>
              <a:t>3.5.4. Flow of events</a:t>
            </a:r>
          </a:p>
          <a:p>
            <a:pPr marL="0" indent="0">
              <a:buNone/>
            </a:pPr>
            <a:endParaRPr lang="en-US" dirty="0"/>
          </a:p>
          <a:p>
            <a:pPr marL="0" indent="0">
              <a:buNone/>
            </a:pPr>
            <a:endParaRPr lang="en-US" dirty="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16203446"/>
              </p:ext>
            </p:extLst>
          </p:nvPr>
        </p:nvGraphicFramePr>
        <p:xfrm>
          <a:off x="1100290" y="4014564"/>
          <a:ext cx="10433936" cy="2266665"/>
        </p:xfrm>
        <a:graphic>
          <a:graphicData uri="http://schemas.openxmlformats.org/drawingml/2006/table">
            <a:tbl>
              <a:tblPr firstRow="1" bandRow="1">
                <a:tableStyleId>{8799B23B-EC83-4686-B30A-512413B5E67A}</a:tableStyleId>
              </a:tblPr>
              <a:tblGrid>
                <a:gridCol w="3450929">
                  <a:extLst>
                    <a:ext uri="{9D8B030D-6E8A-4147-A177-3AD203B41FA5}">
                      <a16:colId xmlns:a16="http://schemas.microsoft.com/office/drawing/2014/main" val="20000"/>
                    </a:ext>
                  </a:extLst>
                </a:gridCol>
                <a:gridCol w="6983007">
                  <a:extLst>
                    <a:ext uri="{9D8B030D-6E8A-4147-A177-3AD203B41FA5}">
                      <a16:colId xmlns:a16="http://schemas.microsoft.com/office/drawing/2014/main" val="20001"/>
                    </a:ext>
                  </a:extLst>
                </a:gridCol>
              </a:tblGrid>
              <a:tr h="321279">
                <a:tc>
                  <a:txBody>
                    <a:bodyPr/>
                    <a:lstStyle/>
                    <a:p>
                      <a:pPr marL="10795" marR="0" algn="ctr">
                        <a:lnSpc>
                          <a:spcPct val="107000"/>
                        </a:lnSpc>
                        <a:spcBef>
                          <a:spcPts val="0"/>
                        </a:spcBef>
                        <a:spcAft>
                          <a:spcPts val="0"/>
                        </a:spcAft>
                      </a:pPr>
                      <a:r>
                        <a:rPr lang="en-US" sz="1400" dirty="0">
                          <a:effectLst/>
                          <a:latin typeface="+mn-lt"/>
                        </a:rPr>
                        <a:t>User Actions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400" dirty="0">
                          <a:effectLst/>
                          <a:latin typeface="+mn-lt"/>
                        </a:rPr>
                        <a:t>System Actions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370840">
                <a:tc>
                  <a:txBody>
                    <a:bodyPr/>
                    <a:lstStyle/>
                    <a:p>
                      <a:pPr marL="0" marR="0">
                        <a:lnSpc>
                          <a:spcPct val="91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The customer selects a car to rent.</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tc>
                  <a:txBody>
                    <a:bodyPr/>
                    <a:lstStyle/>
                    <a:p>
                      <a:pPr marL="27940" marR="57785">
                        <a:lnSpc>
                          <a:spcPct val="107000"/>
                        </a:lnSpc>
                        <a:spcBef>
                          <a:spcPts val="0"/>
                        </a:spcBef>
                        <a:spcAft>
                          <a:spcPts val="165"/>
                        </a:spcAft>
                      </a:pPr>
                      <a:r>
                        <a:rPr lang="en-US" sz="1400" dirty="0">
                          <a:solidFill>
                            <a:srgbClr val="000000"/>
                          </a:solidFill>
                          <a:effectLst/>
                          <a:latin typeface="+mn-lt"/>
                          <a:ea typeface="Arial" panose="020B0604020202020204" pitchFamily="34" charset="0"/>
                          <a:cs typeface="Times New Roman" panose="02020603050405020304" pitchFamily="18" charset="0"/>
                        </a:rPr>
                        <a:t>The system display of balance over user account.</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r>
                        <a:rPr lang="en-US" sz="1400" dirty="0">
                          <a:solidFill>
                            <a:srgbClr val="000000"/>
                          </a:solidFill>
                          <a:effectLst/>
                          <a:latin typeface="+mn-lt"/>
                          <a:ea typeface="Arial" panose="020B0604020202020204" pitchFamily="34" charset="0"/>
                          <a:cs typeface="Times New Roman" panose="02020603050405020304" pitchFamily="18" charset="0"/>
                        </a:rPr>
                        <a:t>The platform shows a summary about request.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nSpc>
                          <a:spcPct val="106000"/>
                        </a:lnSpc>
                        <a:spcBef>
                          <a:spcPts val="0"/>
                        </a:spcBef>
                        <a:spcAft>
                          <a:spcPts val="110"/>
                        </a:spcAft>
                      </a:pPr>
                      <a:r>
                        <a:rPr lang="en-US" sz="1400" dirty="0">
                          <a:solidFill>
                            <a:srgbClr val="000000"/>
                          </a:solidFill>
                          <a:effectLst/>
                          <a:latin typeface="+mn-lt"/>
                          <a:ea typeface="Arial" panose="020B0604020202020204" pitchFamily="34" charset="0"/>
                          <a:cs typeface="Times New Roman" panose="02020603050405020304" pitchFamily="18" charset="0"/>
                        </a:rPr>
                        <a:t>If the vehicle is not availed, show error and not allow continue the process. </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1"/>
                  </a:ext>
                </a:extLst>
              </a:tr>
              <a:tr h="370840">
                <a:tc>
                  <a:txBody>
                    <a:bodyPr/>
                    <a:lstStyle/>
                    <a:p>
                      <a:pPr marL="0" marR="0">
                        <a:lnSpc>
                          <a:spcPct val="107000"/>
                        </a:lnSpc>
                        <a:spcBef>
                          <a:spcPts val="0"/>
                        </a:spcBef>
                        <a:spcAft>
                          <a:spcPts val="0"/>
                        </a:spcAft>
                      </a:pPr>
                      <a:r>
                        <a:rPr lang="en-US" sz="1400" dirty="0">
                          <a:solidFill>
                            <a:srgbClr val="000000"/>
                          </a:solidFill>
                          <a:effectLst/>
                          <a:latin typeface="+mn-lt"/>
                          <a:ea typeface="Calibri" panose="020F0502020204030204" pitchFamily="34" charset="0"/>
                          <a:cs typeface="Times New Roman" panose="02020603050405020304" pitchFamily="18" charset="0"/>
                        </a:rPr>
                        <a:t> </a:t>
                      </a:r>
                      <a:r>
                        <a:rPr lang="en-US" sz="1400" dirty="0">
                          <a:solidFill>
                            <a:srgbClr val="000000"/>
                          </a:solidFill>
                          <a:effectLst/>
                          <a:latin typeface="+mn-lt"/>
                          <a:ea typeface="Arial" panose="020B0604020202020204" pitchFamily="34" charset="0"/>
                          <a:cs typeface="Times New Roman" panose="02020603050405020304" pitchFamily="18" charset="0"/>
                        </a:rPr>
                        <a:t>The customer does click over make payment</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tc>
                  <a:txBody>
                    <a:bodyPr/>
                    <a:lstStyle/>
                    <a:p>
                      <a:pPr marL="27940" marR="181610" algn="just">
                        <a:lnSpc>
                          <a:spcPct val="109000"/>
                        </a:lnSpc>
                        <a:spcBef>
                          <a:spcPts val="0"/>
                        </a:spcBef>
                        <a:spcAft>
                          <a:spcPts val="170"/>
                        </a:spcAft>
                      </a:pPr>
                      <a:r>
                        <a:rPr lang="en-US" sz="1400" dirty="0">
                          <a:solidFill>
                            <a:srgbClr val="000000"/>
                          </a:solidFill>
                          <a:effectLst/>
                          <a:latin typeface="+mn-lt"/>
                          <a:ea typeface="Arial" panose="020B0604020202020204" pitchFamily="34" charset="0"/>
                          <a:cs typeface="Times New Roman" panose="02020603050405020304" pitchFamily="18" charset="0"/>
                        </a:rPr>
                        <a:t>The platform debit from account of customer, in function of how many days that will be renting the.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gn="just">
                        <a:lnSpc>
                          <a:spcPct val="116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The platform changes the status of car to rent.</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nSpc>
                          <a:spcPct val="107000"/>
                        </a:lnSpc>
                        <a:spcBef>
                          <a:spcPts val="0"/>
                        </a:spcBef>
                        <a:spcAft>
                          <a:spcPts val="70"/>
                        </a:spcAft>
                      </a:pPr>
                      <a:r>
                        <a:rPr lang="en-US" sz="1400" dirty="0">
                          <a:solidFill>
                            <a:srgbClr val="000000"/>
                          </a:solidFill>
                          <a:effectLst/>
                          <a:latin typeface="+mn-lt"/>
                          <a:ea typeface="Arial" panose="020B0604020202020204" pitchFamily="34" charset="0"/>
                          <a:cs typeface="Times New Roman" panose="02020603050405020304" pitchFamily="18" charset="0"/>
                        </a:rPr>
                        <a:t>If the vehicle is not availed, show error and not allow continue the revert any transaction money from customer account. </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76519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820882"/>
            <a:ext cx="10058400" cy="5039591"/>
          </a:xfrm>
        </p:spPr>
        <p:txBody>
          <a:bodyPr>
            <a:normAutofit/>
          </a:bodyPr>
          <a:lstStyle/>
          <a:p>
            <a:pPr marL="0" indent="0">
              <a:buNone/>
            </a:pPr>
            <a:endParaRPr lang="en-US" dirty="0"/>
          </a:p>
          <a:p>
            <a:pPr marL="0" indent="0">
              <a:buNone/>
            </a:pPr>
            <a:r>
              <a:rPr lang="en-US" sz="1600" dirty="0"/>
              <a:t>3.5.5. Post-Conditions</a:t>
            </a:r>
          </a:p>
          <a:p>
            <a:pPr lvl="0"/>
            <a:r>
              <a:rPr lang="en-US" sz="1600" dirty="0"/>
              <a:t>The balance account of customer reduces on function of payment. </a:t>
            </a:r>
          </a:p>
          <a:p>
            <a:pPr lvl="0"/>
            <a:r>
              <a:rPr lang="en-US" sz="1600" dirty="0"/>
              <a:t>The car rented change the status to rent. </a:t>
            </a:r>
          </a:p>
          <a:p>
            <a:r>
              <a:rPr lang="en-US" sz="1600" dirty="0"/>
              <a:t>The platform cannot not show cars with status rent. </a:t>
            </a:r>
          </a:p>
          <a:p>
            <a:r>
              <a:rPr lang="en-US" sz="1600" dirty="0"/>
              <a:t>3.5.6. Business Rules: </a:t>
            </a:r>
          </a:p>
          <a:p>
            <a:pPr lvl="0"/>
            <a:r>
              <a:rPr lang="en-US" sz="1600" dirty="0"/>
              <a:t>The most important thing Is that, only is possible discount the value of rent a car, not more or less. </a:t>
            </a:r>
          </a:p>
          <a:p>
            <a:r>
              <a:rPr lang="en-US" sz="1600" dirty="0"/>
              <a:t>The platform notifies to customer about the state of transaction. </a:t>
            </a:r>
          </a:p>
          <a:p>
            <a:r>
              <a:rPr lang="en-US" sz="1600" dirty="0"/>
              <a:t>3.5.7. Nonfunctional requirement: None</a:t>
            </a:r>
          </a:p>
        </p:txBody>
      </p:sp>
    </p:spTree>
    <p:extLst>
      <p:ext uri="{BB962C8B-B14F-4D97-AF65-F5344CB8AC3E}">
        <p14:creationId xmlns:p14="http://schemas.microsoft.com/office/powerpoint/2010/main" val="139378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C2E0C-F73F-4C5B-83E3-0A2A48AF01ED}"/>
              </a:ext>
            </a:extLst>
          </p:cNvPr>
          <p:cNvSpPr>
            <a:spLocks noGrp="1"/>
          </p:cNvSpPr>
          <p:nvPr>
            <p:ph type="title"/>
          </p:nvPr>
        </p:nvSpPr>
        <p:spPr>
          <a:xfrm>
            <a:off x="929297" y="118533"/>
            <a:ext cx="10058400" cy="827701"/>
          </a:xfrm>
        </p:spPr>
        <p:txBody>
          <a:bodyPr>
            <a:normAutofit/>
          </a:bodyPr>
          <a:lstStyle/>
          <a:p>
            <a:r>
              <a:rPr lang="en-US" sz="4000" dirty="0"/>
              <a:t>IV. Architectural Analysis</a:t>
            </a:r>
          </a:p>
        </p:txBody>
      </p:sp>
      <p:pic>
        <p:nvPicPr>
          <p:cNvPr id="5" name="Content Placeholder 4" descr="A close up of a map&#10;&#10;Description automatically generated">
            <a:extLst>
              <a:ext uri="{FF2B5EF4-FFF2-40B4-BE49-F238E27FC236}">
                <a16:creationId xmlns:a16="http://schemas.microsoft.com/office/drawing/2014/main" id="{6CA20D7A-971B-4706-975C-390C752AF709}"/>
              </a:ext>
            </a:extLst>
          </p:cNvPr>
          <p:cNvPicPr>
            <a:picLocks noGrp="1" noChangeAspect="1"/>
          </p:cNvPicPr>
          <p:nvPr>
            <p:ph idx="1"/>
          </p:nvPr>
        </p:nvPicPr>
        <p:blipFill>
          <a:blip r:embed="rId2"/>
          <a:stretch>
            <a:fillRect/>
          </a:stretch>
        </p:blipFill>
        <p:spPr>
          <a:xfrm>
            <a:off x="2616200" y="931333"/>
            <a:ext cx="6358466" cy="5808134"/>
          </a:xfrm>
        </p:spPr>
      </p:pic>
    </p:spTree>
    <p:extLst>
      <p:ext uri="{BB962C8B-B14F-4D97-AF65-F5344CB8AC3E}">
        <p14:creationId xmlns:p14="http://schemas.microsoft.com/office/powerpoint/2010/main" val="3900654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D6F5C-1424-4873-A38F-4620227219EE}"/>
              </a:ext>
            </a:extLst>
          </p:cNvPr>
          <p:cNvSpPr>
            <a:spLocks noGrp="1"/>
          </p:cNvSpPr>
          <p:nvPr>
            <p:ph type="title"/>
          </p:nvPr>
        </p:nvSpPr>
        <p:spPr>
          <a:xfrm>
            <a:off x="1069848" y="484632"/>
            <a:ext cx="10058400" cy="794153"/>
          </a:xfrm>
        </p:spPr>
        <p:txBody>
          <a:bodyPr>
            <a:normAutofit fontScale="90000"/>
          </a:bodyPr>
          <a:lstStyle/>
          <a:p>
            <a:r>
              <a:rPr lang="en-US" sz="4000" dirty="0"/>
              <a:t>V. Sequence Diagram </a:t>
            </a:r>
            <a:br>
              <a:rPr lang="en-US" sz="4000" dirty="0"/>
            </a:br>
            <a:r>
              <a:rPr lang="en-US" sz="3100" dirty="0"/>
              <a:t>5.1. </a:t>
            </a:r>
            <a:r>
              <a:rPr lang="en-US" sz="3100" dirty="0" err="1"/>
              <a:t>addCar</a:t>
            </a:r>
            <a:r>
              <a:rPr lang="en-US" sz="3100" dirty="0"/>
              <a:t> sequence Diagram</a:t>
            </a:r>
            <a:endParaRPr lang="en-US" sz="4000" dirty="0"/>
          </a:p>
        </p:txBody>
      </p:sp>
      <p:pic>
        <p:nvPicPr>
          <p:cNvPr id="5" name="Content Placeholder 4" descr="A close up of a map&#10;&#10;Description automatically generated">
            <a:extLst>
              <a:ext uri="{FF2B5EF4-FFF2-40B4-BE49-F238E27FC236}">
                <a16:creationId xmlns:a16="http://schemas.microsoft.com/office/drawing/2014/main" id="{C98D7A44-4395-4509-B3BB-709EAE79D391}"/>
              </a:ext>
            </a:extLst>
          </p:cNvPr>
          <p:cNvPicPr>
            <a:picLocks noGrp="1" noChangeAspect="1"/>
          </p:cNvPicPr>
          <p:nvPr>
            <p:ph idx="1"/>
          </p:nvPr>
        </p:nvPicPr>
        <p:blipFill>
          <a:blip r:embed="rId2"/>
          <a:stretch>
            <a:fillRect/>
          </a:stretch>
        </p:blipFill>
        <p:spPr>
          <a:xfrm>
            <a:off x="1120655" y="1494266"/>
            <a:ext cx="9419007" cy="4666822"/>
          </a:xfrm>
        </p:spPr>
      </p:pic>
    </p:spTree>
    <p:extLst>
      <p:ext uri="{BB962C8B-B14F-4D97-AF65-F5344CB8AC3E}">
        <p14:creationId xmlns:p14="http://schemas.microsoft.com/office/powerpoint/2010/main" val="4025058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C4DB-CC0B-4B98-97AB-786A01B52965}"/>
              </a:ext>
            </a:extLst>
          </p:cNvPr>
          <p:cNvSpPr>
            <a:spLocks noGrp="1"/>
          </p:cNvSpPr>
          <p:nvPr>
            <p:ph type="title"/>
          </p:nvPr>
        </p:nvSpPr>
        <p:spPr>
          <a:xfrm>
            <a:off x="1029885" y="484632"/>
            <a:ext cx="10098363" cy="751501"/>
          </a:xfrm>
        </p:spPr>
        <p:txBody>
          <a:bodyPr>
            <a:normAutofit/>
          </a:bodyPr>
          <a:lstStyle/>
          <a:p>
            <a:r>
              <a:rPr lang="en-US" sz="3200" dirty="0"/>
              <a:t>5.2. </a:t>
            </a:r>
            <a:r>
              <a:rPr lang="en-US" sz="3200" dirty="0" err="1"/>
              <a:t>reserveCar</a:t>
            </a:r>
            <a:r>
              <a:rPr lang="en-US" sz="3200" dirty="0"/>
              <a:t> Sequence Diagram</a:t>
            </a:r>
          </a:p>
        </p:txBody>
      </p:sp>
      <p:pic>
        <p:nvPicPr>
          <p:cNvPr id="5" name="Content Placeholder 4" descr="A close up of a map&#10;&#10;Description automatically generated">
            <a:extLst>
              <a:ext uri="{FF2B5EF4-FFF2-40B4-BE49-F238E27FC236}">
                <a16:creationId xmlns:a16="http://schemas.microsoft.com/office/drawing/2014/main" id="{9BE09307-68BB-40A1-B103-E3789CF52762}"/>
              </a:ext>
            </a:extLst>
          </p:cNvPr>
          <p:cNvPicPr>
            <a:picLocks noGrp="1" noChangeAspect="1"/>
          </p:cNvPicPr>
          <p:nvPr>
            <p:ph idx="1"/>
          </p:nvPr>
        </p:nvPicPr>
        <p:blipFill>
          <a:blip r:embed="rId2"/>
          <a:stretch>
            <a:fillRect/>
          </a:stretch>
        </p:blipFill>
        <p:spPr>
          <a:xfrm>
            <a:off x="1029885" y="1373093"/>
            <a:ext cx="9976781" cy="4653057"/>
          </a:xfrm>
        </p:spPr>
      </p:pic>
    </p:spTree>
    <p:extLst>
      <p:ext uri="{BB962C8B-B14F-4D97-AF65-F5344CB8AC3E}">
        <p14:creationId xmlns:p14="http://schemas.microsoft.com/office/powerpoint/2010/main" val="3232060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0F59C-87AE-479C-ACF9-6205AA56A33D}"/>
              </a:ext>
            </a:extLst>
          </p:cNvPr>
          <p:cNvSpPr>
            <a:spLocks noGrp="1"/>
          </p:cNvSpPr>
          <p:nvPr>
            <p:ph type="title"/>
          </p:nvPr>
        </p:nvSpPr>
        <p:spPr>
          <a:xfrm>
            <a:off x="1069848" y="484632"/>
            <a:ext cx="10058400" cy="717635"/>
          </a:xfrm>
        </p:spPr>
        <p:txBody>
          <a:bodyPr>
            <a:normAutofit/>
          </a:bodyPr>
          <a:lstStyle/>
          <a:p>
            <a:r>
              <a:rPr lang="en-US" sz="3200" dirty="0"/>
              <a:t>5.3. </a:t>
            </a:r>
            <a:r>
              <a:rPr lang="en-US" sz="3200" dirty="0" err="1"/>
              <a:t>rentCar</a:t>
            </a:r>
            <a:r>
              <a:rPr lang="en-US" sz="3200" dirty="0"/>
              <a:t> Sequence Diagram</a:t>
            </a:r>
          </a:p>
        </p:txBody>
      </p:sp>
      <p:pic>
        <p:nvPicPr>
          <p:cNvPr id="5" name="Content Placeholder 4" descr="A close up of a map&#10;&#10;Description automatically generated">
            <a:extLst>
              <a:ext uri="{FF2B5EF4-FFF2-40B4-BE49-F238E27FC236}">
                <a16:creationId xmlns:a16="http://schemas.microsoft.com/office/drawing/2014/main" id="{E024F4B3-469D-4917-9F60-A00C69A4F24D}"/>
              </a:ext>
            </a:extLst>
          </p:cNvPr>
          <p:cNvPicPr>
            <a:picLocks noGrp="1" noChangeAspect="1"/>
          </p:cNvPicPr>
          <p:nvPr>
            <p:ph idx="1"/>
          </p:nvPr>
        </p:nvPicPr>
        <p:blipFill>
          <a:blip r:embed="rId2"/>
          <a:stretch>
            <a:fillRect/>
          </a:stretch>
        </p:blipFill>
        <p:spPr>
          <a:xfrm>
            <a:off x="1063752" y="1517874"/>
            <a:ext cx="10179981" cy="4804694"/>
          </a:xfrm>
        </p:spPr>
      </p:pic>
    </p:spTree>
    <p:extLst>
      <p:ext uri="{BB962C8B-B14F-4D97-AF65-F5344CB8AC3E}">
        <p14:creationId xmlns:p14="http://schemas.microsoft.com/office/powerpoint/2010/main" val="418593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EF6FA-4770-4FC6-A635-06878EB741C1}"/>
              </a:ext>
            </a:extLst>
          </p:cNvPr>
          <p:cNvSpPr>
            <a:spLocks noGrp="1"/>
          </p:cNvSpPr>
          <p:nvPr>
            <p:ph type="title"/>
          </p:nvPr>
        </p:nvSpPr>
        <p:spPr>
          <a:xfrm>
            <a:off x="1069848" y="484632"/>
            <a:ext cx="10058400" cy="802301"/>
          </a:xfrm>
        </p:spPr>
        <p:txBody>
          <a:bodyPr>
            <a:normAutofit/>
          </a:bodyPr>
          <a:lstStyle/>
          <a:p>
            <a:r>
              <a:rPr lang="en-US" sz="3200" dirty="0"/>
              <a:t>5.4.  </a:t>
            </a:r>
            <a:r>
              <a:rPr lang="en-US" sz="3200" dirty="0" err="1"/>
              <a:t>cancelReservation</a:t>
            </a:r>
            <a:r>
              <a:rPr lang="en-US" sz="3200" dirty="0"/>
              <a:t> Sequence Diagram</a:t>
            </a:r>
          </a:p>
        </p:txBody>
      </p:sp>
      <p:pic>
        <p:nvPicPr>
          <p:cNvPr id="5" name="Content Placeholder 4" descr="A close up of a map&#10;&#10;Description automatically generated">
            <a:extLst>
              <a:ext uri="{FF2B5EF4-FFF2-40B4-BE49-F238E27FC236}">
                <a16:creationId xmlns:a16="http://schemas.microsoft.com/office/drawing/2014/main" id="{E4639449-7866-466E-B5DA-CA19656C4D7A}"/>
              </a:ext>
            </a:extLst>
          </p:cNvPr>
          <p:cNvPicPr>
            <a:picLocks noGrp="1" noChangeAspect="1"/>
          </p:cNvPicPr>
          <p:nvPr>
            <p:ph idx="1"/>
          </p:nvPr>
        </p:nvPicPr>
        <p:blipFill>
          <a:blip r:embed="rId2"/>
          <a:stretch>
            <a:fillRect/>
          </a:stretch>
        </p:blipFill>
        <p:spPr>
          <a:xfrm>
            <a:off x="1019048" y="1363133"/>
            <a:ext cx="9852152" cy="4766733"/>
          </a:xfrm>
        </p:spPr>
      </p:pic>
    </p:spTree>
    <p:extLst>
      <p:ext uri="{BB962C8B-B14F-4D97-AF65-F5344CB8AC3E}">
        <p14:creationId xmlns:p14="http://schemas.microsoft.com/office/powerpoint/2010/main" val="7714493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84ACB6"/>
      </a:dk2>
      <a:lt2>
        <a:srgbClr val="EBE9DD"/>
      </a:lt2>
      <a:accent1>
        <a:srgbClr val="6F8183"/>
      </a:accent1>
      <a:accent2>
        <a:srgbClr val="967E96"/>
      </a:accent2>
      <a:accent3>
        <a:srgbClr val="CCC893"/>
      </a:accent3>
      <a:accent4>
        <a:srgbClr val="A54D74"/>
      </a:accent4>
      <a:accent5>
        <a:srgbClr val="949C6B"/>
      </a:accent5>
      <a:accent6>
        <a:srgbClr val="766A50"/>
      </a:accent6>
      <a:hlink>
        <a:srgbClr val="CC6600"/>
      </a:hlink>
      <a:folHlink>
        <a:srgbClr val="777777"/>
      </a:folHlink>
    </a:clrScheme>
    <a:fontScheme name="Wood 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panose="02050604050505020204"/>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8E89CD47-BF55-4DDE-B823-2283AA7E7695}"/>
    </a:ext>
  </a:extLst>
</a:theme>
</file>

<file path=docProps/app.xml><?xml version="1.0" encoding="utf-8"?>
<Properties xmlns="http://schemas.openxmlformats.org/officeDocument/2006/extended-properties" xmlns:vt="http://schemas.openxmlformats.org/officeDocument/2006/docPropsVTypes">
  <Template>TM03090434[[fn=Wood Type]]</Template>
  <TotalTime>133</TotalTime>
  <Words>1631</Words>
  <Application>Microsoft Office PowerPoint</Application>
  <PresentationFormat>Widescreen</PresentationFormat>
  <Paragraphs>213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Bookman Old Style</vt:lpstr>
      <vt:lpstr>Calibri</vt:lpstr>
      <vt:lpstr>Century Gothic</vt:lpstr>
      <vt:lpstr>Times New Roman</vt:lpstr>
      <vt:lpstr>TimesNewRomanPS-ItalicMT</vt:lpstr>
      <vt:lpstr>Wingdings</vt:lpstr>
      <vt:lpstr>Wood Type</vt:lpstr>
      <vt:lpstr>Online Car Rental System</vt:lpstr>
      <vt:lpstr>Online Car Rental System’s  Topic</vt:lpstr>
      <vt:lpstr>Introduction</vt:lpstr>
      <vt:lpstr>I. Vision Document 1.1. Problem Statement</vt:lpstr>
      <vt:lpstr>1.2 Product Position Statement</vt:lpstr>
      <vt:lpstr>1.4. Needs and Features</vt:lpstr>
      <vt:lpstr>II.Use-Case Diagram</vt:lpstr>
      <vt:lpstr>III. Use-Case Description</vt:lpstr>
      <vt:lpstr>PowerPoint Presentation</vt:lpstr>
      <vt:lpstr>PowerPoint Presentation</vt:lpstr>
      <vt:lpstr>PowerPoint Presentation</vt:lpstr>
      <vt:lpstr>PowerPoint Presentation</vt:lpstr>
      <vt:lpstr>PowerPoint Presentation</vt:lpstr>
      <vt:lpstr>IV. Architectural Analysis</vt:lpstr>
      <vt:lpstr>V. Sequence Diagram  5.1. addCar sequence Diagram</vt:lpstr>
      <vt:lpstr>5.2. reserveCar Sequence Diagram</vt:lpstr>
      <vt:lpstr>5.3. rentCar Sequence Diagram</vt:lpstr>
      <vt:lpstr>5.4.  cancelReservation Sequence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Car Rental System</dc:title>
  <dc:creator>Windows User</dc:creator>
  <cp:lastModifiedBy>Khaliun Samdanjamts</cp:lastModifiedBy>
  <cp:revision>16</cp:revision>
  <dcterms:created xsi:type="dcterms:W3CDTF">2019-05-06T18:59:40Z</dcterms:created>
  <dcterms:modified xsi:type="dcterms:W3CDTF">2019-05-06T21:34:22Z</dcterms:modified>
</cp:coreProperties>
</file>